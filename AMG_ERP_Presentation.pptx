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8" autoAdjust="0"/>
    <p:restoredTop sz="94610"/>
  </p:normalViewPr>
  <p:slideViewPr>
    <p:cSldViewPr snapToGrid="0" snapToObjects="1">
      <p:cViewPr>
        <p:scale>
          <a:sx n="87" d="100"/>
          <a:sy n="87" d="100"/>
        </p:scale>
        <p:origin x="389" y="-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454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the assignment as a business transformation, not a software install.
State that AMG is losing margin and operational control because its systems are fragmented and the BOM handoff is fragile.
Explain that the recommendation is to go live in phases rather than attempt a big-bang cutover.
Close by telling the audience that the deck balances speed with risk control, because uninterrupted operations matter more than feature completeness on Day 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one-sentence answer for executives.
Make it clear that the programme is designed to reduce risk, not chase every possible feature.
The three decision asks are: approve the approach, approve strict scope control, and approve the data/archive strategy.
If challenged, emphasise that AMG is not buying a new ERP for its own sake; it is buying operational reliability and margin transparency.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explain the business case in plain English.
The company is not suffering from a lack of effort; it is suffering from disconnected systems and unreliable data flow.
The key message is that margin erosion is a symptom of the current operating model.
That is why the solution must fix process, data and governance together, rather than treating the ERP replacement as a technology-only project.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logic behind the scope choices.
Fit-to-standard means AMG adapts to proven ERP practices wherever possible.
Pilot-first means the team learns on a smaller blast radius before scaling.
Configure-before-customise avoids creating a second legacy system inside the new cloud ERP.
Value-based governance keeps the board’s timeline and risk appetite in control.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audience through the current architecture from left to right.
The point is not that the company has too much technology, but that the technology is not joined up.
BOM and ECN movement between engineering and ERP is especially risky because a one-day delay can disrupt manufacturing.
Excel is acting as the integration layer, which usually means the business is carrying hidden process risk.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future state is intentionally simpler than the current one.
The cloud ERP becomes the operational core, not a place where every possible function lives.
Engineering, CRM, HR and reporting still matter, but they should connect cleanly rather than own separate islands of data.
The benefit is better control, better visibility and fewer brittle point-to-point workarounds.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here is that Day 1 should cover only what is needed to run the business.
Finance, manufacturing, purchasing and the BOM handoff are non-negotiable because they are the backbone of operations.
The control tower block shows that reporting and support are part of go-live readiness, not an afterthought.
Stress that the cutover set should be small enough to test deeply.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strong candidate answer is that deferral is not denial.
These items may still be valuable, but they are not required for a safe first go-live.
The deck should make clear that the team is protecting the timeline and avoiding unnecessary code changes.
Mention that customisation has a long-tail cost because it makes future upgrades and support more difficult.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“what happens to our history?” question.
The safest pattern is to migrate live operational data into the ERP, while keeping older history in an archive or warehouse.
That gives managers uninterrupted access to KPIs without forcing the new ERP to carry years of obsolete transactions.
Month-end close must be proven through a parallel run before the old system is retired.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this as a gated roadmap rather than a fixed-date promise.
The early months are for understanding processes, data and dependencies.
The mid-stage is for design and build, but only after the scope has been frozen.
The later months should be focused on a pilot, hypercare and then gradual rollout to the remaining sites.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governance slide shows that this is a management programme as much as an IT programme.
Executives do not need to approve every task, but they do need to own the major trade-offs.
Business process owners are important because they prevent the project from drifting into an IT-only mindset.
The control mechanisms are there to keep the plan honest and to make decisions visible.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by highlighting the four risks most likely to hurt the programme: data defects, scope creep, cutover disruption and adoption failure.
Then shift to action: pilot site, sponsors, scope freeze, data work and the detailed plan.
This gives the executives a clear sense that the programme is controllable and that the next decisions are concrete.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163A5F"/>
          </a:solidFill>
          <a:ln w="12700">
            <a:solidFill>
              <a:srgbClr val="163A5F">
                <a:alpha val="0"/>
              </a:srgbClr>
            </a:solidFill>
            <a:prstDash val="solid"/>
          </a:ln>
        </p:spPr>
        <p:txBody>
          <a:bodyPr/>
          <a:lstStyle/>
          <a:p>
            <a:endParaRPr lang="en-US"/>
          </a:p>
        </p:txBody>
      </p:sp>
      <p:sp>
        <p:nvSpPr>
          <p:cNvPr id="3" name="Text 1"/>
          <p:cNvSpPr/>
          <p:nvPr/>
        </p:nvSpPr>
        <p:spPr>
          <a:xfrm>
            <a:off x="365760" y="109728"/>
            <a:ext cx="9875520" cy="2286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Alpha Manufacturing Group (AMG) - ERP Transformation</a:t>
            </a:r>
            <a:endParaRPr lang="en-US" sz="2200" dirty="0"/>
          </a:p>
        </p:txBody>
      </p:sp>
      <p:sp>
        <p:nvSpPr>
          <p:cNvPr id="4" name="Text 2"/>
          <p:cNvSpPr/>
          <p:nvPr/>
        </p:nvSpPr>
        <p:spPr>
          <a:xfrm>
            <a:off x="9738360" y="118872"/>
            <a:ext cx="2011680" cy="182880"/>
          </a:xfrm>
          <a:prstGeom prst="rect">
            <a:avLst/>
          </a:prstGeom>
          <a:noFill/>
          <a:ln/>
        </p:spPr>
        <p:txBody>
          <a:bodyPr wrap="square" lIns="0" tIns="0" rIns="0" bIns="0" rtlCol="0" anchor="ctr"/>
          <a:lstStyle/>
          <a:p>
            <a:pPr marL="0" indent="0" algn="r">
              <a:buNone/>
            </a:pPr>
            <a:r>
              <a:rPr lang="en-US" sz="1000" dirty="0">
                <a:solidFill>
                  <a:srgbClr val="DCE6F1"/>
                </a:solidFill>
              </a:rPr>
              <a:t>Executive review</a:t>
            </a:r>
            <a:endParaRPr lang="en-US" sz="1000" dirty="0"/>
          </a:p>
        </p:txBody>
      </p:sp>
      <p:sp>
        <p:nvSpPr>
          <p:cNvPr id="5" name="Text 3"/>
          <p:cNvSpPr/>
          <p:nvPr/>
        </p:nvSpPr>
        <p:spPr>
          <a:xfrm>
            <a:off x="502920" y="914400"/>
            <a:ext cx="7589520" cy="548640"/>
          </a:xfrm>
          <a:prstGeom prst="rect">
            <a:avLst/>
          </a:prstGeom>
          <a:noFill/>
          <a:ln/>
        </p:spPr>
        <p:txBody>
          <a:bodyPr wrap="square" lIns="0" tIns="0" rIns="0" bIns="0" rtlCol="0" anchor="ctr"/>
          <a:lstStyle/>
          <a:p>
            <a:pPr marL="0" indent="0">
              <a:buNone/>
            </a:pPr>
            <a:r>
              <a:rPr lang="en-US" sz="2000" b="1" dirty="0">
                <a:solidFill>
                  <a:srgbClr val="1F2937"/>
                </a:solidFill>
              </a:rPr>
              <a:t>A phased cloud ERP programme that protects operations, improves margin visibility, and preserves historical reporting.</a:t>
            </a:r>
            <a:endParaRPr lang="en-US" sz="2000" dirty="0"/>
          </a:p>
        </p:txBody>
      </p:sp>
      <p:sp>
        <p:nvSpPr>
          <p:cNvPr id="6" name="Shape 4"/>
          <p:cNvSpPr/>
          <p:nvPr/>
        </p:nvSpPr>
        <p:spPr>
          <a:xfrm>
            <a:off x="502920" y="1645920"/>
            <a:ext cx="2743200" cy="914400"/>
          </a:xfrm>
          <a:prstGeom prst="roundRect">
            <a:avLst>
              <a:gd name="adj" fmla="val 8000"/>
            </a:avLst>
          </a:prstGeom>
          <a:solidFill>
            <a:srgbClr val="EEF4FB"/>
          </a:solidFill>
          <a:ln w="12700">
            <a:solidFill>
              <a:srgbClr val="CBD5E1"/>
            </a:solidFill>
            <a:prstDash val="solid"/>
          </a:ln>
        </p:spPr>
        <p:txBody>
          <a:bodyPr/>
          <a:lstStyle/>
          <a:p>
            <a:endParaRPr lang="en-US" dirty="0"/>
          </a:p>
        </p:txBody>
      </p:sp>
      <p:sp>
        <p:nvSpPr>
          <p:cNvPr id="7" name="Text 5"/>
          <p:cNvSpPr/>
          <p:nvPr/>
        </p:nvSpPr>
        <p:spPr>
          <a:xfrm>
            <a:off x="612648" y="1719072"/>
            <a:ext cx="2523744" cy="164592"/>
          </a:xfrm>
          <a:prstGeom prst="rect">
            <a:avLst/>
          </a:prstGeom>
          <a:noFill/>
          <a:ln/>
        </p:spPr>
        <p:txBody>
          <a:bodyPr wrap="square" lIns="0" tIns="0" rIns="0" bIns="0" rtlCol="0" anchor="ctr"/>
          <a:lstStyle/>
          <a:p>
            <a:pPr marL="0" indent="0" algn="l">
              <a:buNone/>
            </a:pPr>
            <a:r>
              <a:rPr lang="en-US" sz="1250" b="1" dirty="0">
                <a:solidFill>
                  <a:srgbClr val="163A5F"/>
                </a:solidFill>
              </a:rPr>
              <a:t>~200 employees</a:t>
            </a:r>
            <a:endParaRPr lang="en-US" sz="1250" dirty="0"/>
          </a:p>
        </p:txBody>
      </p:sp>
      <p:sp>
        <p:nvSpPr>
          <p:cNvPr id="8" name="Text 6"/>
          <p:cNvSpPr/>
          <p:nvPr/>
        </p:nvSpPr>
        <p:spPr>
          <a:xfrm>
            <a:off x="612648" y="1920240"/>
            <a:ext cx="2523744" cy="585216"/>
          </a:xfrm>
          <a:prstGeom prst="rect">
            <a:avLst/>
          </a:prstGeom>
          <a:noFill/>
          <a:ln/>
        </p:spPr>
        <p:txBody>
          <a:bodyPr wrap="square" lIns="254" tIns="254" rIns="254" bIns="254" rtlCol="0" anchor="t">
            <a:normAutofit/>
          </a:bodyPr>
          <a:lstStyle/>
          <a:p>
            <a:pPr marL="0" indent="0">
              <a:buNone/>
            </a:pPr>
            <a:r>
              <a:rPr lang="en-US" sz="1400" dirty="0">
                <a:solidFill>
                  <a:srgbClr val="1F2937"/>
                </a:solidFill>
              </a:rPr>
              <a:t>Mid-sized industrial equipment manufacturer</a:t>
            </a:r>
            <a:endParaRPr lang="en-US" sz="1400" dirty="0"/>
          </a:p>
        </p:txBody>
      </p:sp>
      <p:sp>
        <p:nvSpPr>
          <p:cNvPr id="9" name="Shape 7"/>
          <p:cNvSpPr/>
          <p:nvPr/>
        </p:nvSpPr>
        <p:spPr>
          <a:xfrm>
            <a:off x="3429000" y="1645920"/>
            <a:ext cx="2743200" cy="914400"/>
          </a:xfrm>
          <a:prstGeom prst="roundRect">
            <a:avLst>
              <a:gd name="adj" fmla="val 8000"/>
            </a:avLst>
          </a:prstGeom>
          <a:solidFill>
            <a:srgbClr val="EEF4FB"/>
          </a:solidFill>
          <a:ln w="12700">
            <a:solidFill>
              <a:srgbClr val="CBD5E1"/>
            </a:solidFill>
            <a:prstDash val="solid"/>
          </a:ln>
        </p:spPr>
        <p:txBody>
          <a:bodyPr/>
          <a:lstStyle/>
          <a:p>
            <a:endParaRPr lang="en-US"/>
          </a:p>
        </p:txBody>
      </p:sp>
      <p:sp>
        <p:nvSpPr>
          <p:cNvPr id="10" name="Text 8"/>
          <p:cNvSpPr/>
          <p:nvPr/>
        </p:nvSpPr>
        <p:spPr>
          <a:xfrm>
            <a:off x="3538728" y="1719072"/>
            <a:ext cx="2523744" cy="164592"/>
          </a:xfrm>
          <a:prstGeom prst="rect">
            <a:avLst/>
          </a:prstGeom>
          <a:noFill/>
          <a:ln/>
        </p:spPr>
        <p:txBody>
          <a:bodyPr wrap="square" lIns="0" tIns="0" rIns="0" bIns="0" rtlCol="0" anchor="ctr"/>
          <a:lstStyle/>
          <a:p>
            <a:pPr marL="0" indent="0" algn="l">
              <a:buNone/>
            </a:pPr>
            <a:r>
              <a:rPr lang="en-US" sz="1250" b="1" dirty="0">
                <a:solidFill>
                  <a:srgbClr val="163A5F"/>
                </a:solidFill>
              </a:rPr>
              <a:t>5 locations</a:t>
            </a:r>
            <a:endParaRPr lang="en-US" sz="1250" dirty="0"/>
          </a:p>
        </p:txBody>
      </p:sp>
      <p:sp>
        <p:nvSpPr>
          <p:cNvPr id="11" name="Text 9"/>
          <p:cNvSpPr/>
          <p:nvPr/>
        </p:nvSpPr>
        <p:spPr>
          <a:xfrm>
            <a:off x="3538728" y="1920240"/>
            <a:ext cx="2523744" cy="585216"/>
          </a:xfrm>
          <a:prstGeom prst="rect">
            <a:avLst/>
          </a:prstGeom>
          <a:noFill/>
          <a:ln/>
        </p:spPr>
        <p:txBody>
          <a:bodyPr wrap="square" lIns="254" tIns="254" rIns="254" bIns="254" rtlCol="0" anchor="t">
            <a:normAutofit/>
          </a:bodyPr>
          <a:lstStyle/>
          <a:p>
            <a:pPr marL="0" indent="0">
              <a:buNone/>
            </a:pPr>
            <a:r>
              <a:rPr lang="en-US" sz="1400" dirty="0">
                <a:solidFill>
                  <a:srgbClr val="1F2937"/>
                </a:solidFill>
              </a:rPr>
              <a:t>Operations in the US and Canada</a:t>
            </a:r>
            <a:endParaRPr lang="en-US" sz="1400" dirty="0"/>
          </a:p>
        </p:txBody>
      </p:sp>
      <p:sp>
        <p:nvSpPr>
          <p:cNvPr id="12" name="Shape 10"/>
          <p:cNvSpPr/>
          <p:nvPr/>
        </p:nvSpPr>
        <p:spPr>
          <a:xfrm>
            <a:off x="6355080" y="1645920"/>
            <a:ext cx="2743200" cy="914400"/>
          </a:xfrm>
          <a:prstGeom prst="roundRect">
            <a:avLst>
              <a:gd name="adj" fmla="val 8000"/>
            </a:avLst>
          </a:prstGeom>
          <a:solidFill>
            <a:srgbClr val="EEF4FB"/>
          </a:solidFill>
          <a:ln w="12700">
            <a:solidFill>
              <a:srgbClr val="CBD5E1"/>
            </a:solidFill>
            <a:prstDash val="solid"/>
          </a:ln>
        </p:spPr>
        <p:txBody>
          <a:bodyPr/>
          <a:lstStyle/>
          <a:p>
            <a:endParaRPr lang="en-US" dirty="0"/>
          </a:p>
        </p:txBody>
      </p:sp>
      <p:sp>
        <p:nvSpPr>
          <p:cNvPr id="13" name="Text 11"/>
          <p:cNvSpPr/>
          <p:nvPr/>
        </p:nvSpPr>
        <p:spPr>
          <a:xfrm>
            <a:off x="6464808" y="1719072"/>
            <a:ext cx="2523744" cy="164592"/>
          </a:xfrm>
          <a:prstGeom prst="rect">
            <a:avLst/>
          </a:prstGeom>
          <a:noFill/>
          <a:ln/>
        </p:spPr>
        <p:txBody>
          <a:bodyPr wrap="square" lIns="0" tIns="0" rIns="0" bIns="0" rtlCol="0" anchor="ctr"/>
          <a:lstStyle/>
          <a:p>
            <a:pPr marL="0" indent="0" algn="l">
              <a:buNone/>
            </a:pPr>
            <a:r>
              <a:rPr lang="en-US" sz="1250" b="1" dirty="0">
                <a:solidFill>
                  <a:srgbClr val="163A5F"/>
                </a:solidFill>
              </a:rPr>
              <a:t>~$100m revenue</a:t>
            </a:r>
            <a:endParaRPr lang="en-US" sz="1250" dirty="0"/>
          </a:p>
        </p:txBody>
      </p:sp>
      <p:sp>
        <p:nvSpPr>
          <p:cNvPr id="14" name="Text 12"/>
          <p:cNvSpPr/>
          <p:nvPr/>
        </p:nvSpPr>
        <p:spPr>
          <a:xfrm>
            <a:off x="6464808" y="1920240"/>
            <a:ext cx="2523744" cy="585216"/>
          </a:xfrm>
          <a:prstGeom prst="rect">
            <a:avLst/>
          </a:prstGeom>
          <a:noFill/>
          <a:ln/>
        </p:spPr>
        <p:txBody>
          <a:bodyPr wrap="square" lIns="254" tIns="254" rIns="254" bIns="254" rtlCol="0" anchor="t">
            <a:normAutofit/>
          </a:bodyPr>
          <a:lstStyle/>
          <a:p>
            <a:pPr marL="0" indent="0">
              <a:buNone/>
            </a:pPr>
            <a:r>
              <a:rPr lang="en-US" sz="1400" dirty="0">
                <a:solidFill>
                  <a:srgbClr val="1F2937"/>
                </a:solidFill>
              </a:rPr>
              <a:t>Annual revenue base</a:t>
            </a:r>
            <a:endParaRPr lang="en-US" sz="1400" dirty="0"/>
          </a:p>
        </p:txBody>
      </p:sp>
      <p:sp>
        <p:nvSpPr>
          <p:cNvPr id="15" name="Shape 13"/>
          <p:cNvSpPr/>
          <p:nvPr/>
        </p:nvSpPr>
        <p:spPr>
          <a:xfrm>
            <a:off x="502920" y="2880360"/>
            <a:ext cx="8595360" cy="1645920"/>
          </a:xfrm>
          <a:prstGeom prst="roundRect">
            <a:avLst>
              <a:gd name="adj" fmla="val 4444"/>
            </a:avLst>
          </a:prstGeom>
          <a:solidFill>
            <a:srgbClr val="F8FAFC"/>
          </a:solidFill>
          <a:ln w="12700">
            <a:solidFill>
              <a:srgbClr val="CBD5E1"/>
            </a:solidFill>
            <a:prstDash val="solid"/>
          </a:ln>
        </p:spPr>
        <p:txBody>
          <a:bodyPr/>
          <a:lstStyle/>
          <a:p>
            <a:endParaRPr lang="en-US" dirty="0"/>
          </a:p>
        </p:txBody>
      </p:sp>
      <p:sp>
        <p:nvSpPr>
          <p:cNvPr id="16" name="Text 14"/>
          <p:cNvSpPr/>
          <p:nvPr/>
        </p:nvSpPr>
        <p:spPr>
          <a:xfrm>
            <a:off x="612648" y="2953512"/>
            <a:ext cx="8375904" cy="164592"/>
          </a:xfrm>
          <a:prstGeom prst="rect">
            <a:avLst/>
          </a:prstGeom>
          <a:noFill/>
          <a:ln/>
        </p:spPr>
        <p:txBody>
          <a:bodyPr wrap="square" lIns="0" tIns="0" rIns="0" bIns="0" rtlCol="0" anchor="ctr"/>
          <a:lstStyle/>
          <a:p>
            <a:pPr marL="0" indent="0" algn="l">
              <a:buNone/>
            </a:pPr>
            <a:r>
              <a:rPr lang="en-US" sz="2000" b="1" dirty="0">
                <a:solidFill>
                  <a:srgbClr val="163A5F"/>
                </a:solidFill>
              </a:rPr>
              <a:t>Why the change now?</a:t>
            </a:r>
            <a:endParaRPr lang="en-US" sz="2000" dirty="0"/>
          </a:p>
        </p:txBody>
      </p:sp>
      <p:sp>
        <p:nvSpPr>
          <p:cNvPr id="17" name="Text 15"/>
          <p:cNvSpPr/>
          <p:nvPr/>
        </p:nvSpPr>
        <p:spPr>
          <a:xfrm>
            <a:off x="612648" y="3154680"/>
            <a:ext cx="8375904" cy="1316736"/>
          </a:xfrm>
          <a:prstGeom prst="rect">
            <a:avLst/>
          </a:prstGeom>
          <a:noFill/>
          <a:ln/>
        </p:spPr>
        <p:txBody>
          <a:bodyPr wrap="square" lIns="254" tIns="254" rIns="254" bIns="254" rtlCol="0" anchor="t">
            <a:normAutofit/>
          </a:bodyPr>
          <a:lstStyle/>
          <a:p>
            <a:pPr marL="0" indent="0">
              <a:buNone/>
            </a:pPr>
            <a:r>
              <a:rPr lang="en-US" dirty="0">
                <a:solidFill>
                  <a:srgbClr val="1F2937"/>
                </a:solidFill>
              </a:rPr>
              <a:t>The current ERP landscape is fragmented, BOM sync is fragile, labour tracking is unreliable, and margin erosion is occurring on most custom orders. The board’s goal is not only to replace software - it is to stabilise operations and create a trusted management view of profitability</a:t>
            </a:r>
            <a:r>
              <a:rPr lang="en-US" sz="1000" dirty="0">
                <a:solidFill>
                  <a:srgbClr val="1F2937"/>
                </a:solidFill>
              </a:rPr>
              <a:t>.</a:t>
            </a:r>
            <a:endParaRPr lang="en-US" sz="1000" dirty="0"/>
          </a:p>
        </p:txBody>
      </p:sp>
      <p:sp>
        <p:nvSpPr>
          <p:cNvPr id="18" name="Shape 16"/>
          <p:cNvSpPr/>
          <p:nvPr/>
        </p:nvSpPr>
        <p:spPr>
          <a:xfrm>
            <a:off x="9692640" y="1005840"/>
            <a:ext cx="1920240" cy="3657600"/>
          </a:xfrm>
          <a:prstGeom prst="roundRect">
            <a:avLst>
              <a:gd name="adj" fmla="val 3810"/>
            </a:avLst>
          </a:prstGeom>
          <a:solidFill>
            <a:srgbClr val="163A5F"/>
          </a:solidFill>
          <a:ln w="12700">
            <a:solidFill>
              <a:srgbClr val="163A5F"/>
            </a:solidFill>
            <a:prstDash val="solid"/>
          </a:ln>
        </p:spPr>
        <p:txBody>
          <a:bodyPr/>
          <a:lstStyle/>
          <a:p>
            <a:endParaRPr lang="en-US"/>
          </a:p>
        </p:txBody>
      </p:sp>
      <p:sp>
        <p:nvSpPr>
          <p:cNvPr id="19" name="Text 17"/>
          <p:cNvSpPr/>
          <p:nvPr/>
        </p:nvSpPr>
        <p:spPr>
          <a:xfrm>
            <a:off x="9875520" y="1371600"/>
            <a:ext cx="1554480" cy="548640"/>
          </a:xfrm>
          <a:prstGeom prst="rect">
            <a:avLst/>
          </a:prstGeom>
          <a:noFill/>
          <a:ln/>
        </p:spPr>
        <p:txBody>
          <a:bodyPr wrap="square" lIns="0" tIns="0" rIns="0" bIns="0" rtlCol="0" anchor="ctr"/>
          <a:lstStyle/>
          <a:p>
            <a:pPr marL="0" indent="0" algn="ctr">
              <a:buNone/>
            </a:pPr>
            <a:r>
              <a:rPr lang="en-US" sz="2400" b="1" dirty="0">
                <a:solidFill>
                  <a:srgbClr val="FFFFFF"/>
                </a:solidFill>
              </a:rPr>
              <a:t>12-month target</a:t>
            </a:r>
            <a:endParaRPr lang="en-US" sz="2400" dirty="0"/>
          </a:p>
          <a:p>
            <a:pPr marL="0" indent="0" algn="ctr">
              <a:buNone/>
            </a:pPr>
            <a:r>
              <a:rPr lang="en-US" sz="2400" b="1" dirty="0">
                <a:solidFill>
                  <a:srgbClr val="FFFFFF"/>
                </a:solidFill>
              </a:rPr>
              <a:t>go-live</a:t>
            </a:r>
            <a:endParaRPr lang="en-US" sz="2400" dirty="0"/>
          </a:p>
        </p:txBody>
      </p:sp>
      <p:sp>
        <p:nvSpPr>
          <p:cNvPr id="20" name="Text 18"/>
          <p:cNvSpPr/>
          <p:nvPr/>
        </p:nvSpPr>
        <p:spPr>
          <a:xfrm>
            <a:off x="9875520" y="2505455"/>
            <a:ext cx="1554480" cy="1240067"/>
          </a:xfrm>
          <a:prstGeom prst="rect">
            <a:avLst/>
          </a:prstGeom>
          <a:noFill/>
          <a:ln/>
        </p:spPr>
        <p:txBody>
          <a:bodyPr wrap="square" lIns="0" tIns="0" rIns="0" bIns="0" rtlCol="0" anchor="ctr"/>
          <a:lstStyle/>
          <a:p>
            <a:pPr marL="0" indent="0" algn="ctr">
              <a:buNone/>
            </a:pPr>
            <a:r>
              <a:rPr lang="en-US" sz="1600" dirty="0">
                <a:solidFill>
                  <a:srgbClr val="DDEBF7"/>
                </a:solidFill>
              </a:rPr>
              <a:t>Pilot first</a:t>
            </a:r>
            <a:endParaRPr lang="en-US" sz="1600" dirty="0"/>
          </a:p>
          <a:p>
            <a:pPr marL="0" indent="0" algn="ctr">
              <a:buNone/>
            </a:pPr>
            <a:r>
              <a:rPr lang="en-US" sz="1600" dirty="0">
                <a:solidFill>
                  <a:srgbClr val="DDEBF7"/>
                </a:solidFill>
              </a:rPr>
              <a:t>Minimal customisation</a:t>
            </a:r>
            <a:endParaRPr lang="en-US" sz="1600" dirty="0"/>
          </a:p>
          <a:p>
            <a:pPr marL="0" indent="0" algn="ctr">
              <a:buNone/>
            </a:pPr>
            <a:r>
              <a:rPr lang="en-US" sz="1600" dirty="0">
                <a:solidFill>
                  <a:srgbClr val="DDEBF7"/>
                </a:solidFill>
              </a:rPr>
              <a:t>Archive history</a:t>
            </a:r>
            <a:endParaRPr lang="en-US" sz="1600" dirty="0"/>
          </a:p>
          <a:p>
            <a:pPr marL="0" indent="0" algn="ctr">
              <a:buNone/>
            </a:pPr>
            <a:r>
              <a:rPr lang="en-US" sz="1600" dirty="0">
                <a:solidFill>
                  <a:srgbClr val="DDEBF7"/>
                </a:solidFill>
              </a:rPr>
              <a:t>Parallel close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163A5F"/>
          </a:solidFill>
          <a:ln w="12700">
            <a:solidFill>
              <a:srgbClr val="163A5F">
                <a:alpha val="0"/>
              </a:srgbClr>
            </a:solidFill>
            <a:prstDash val="solid"/>
          </a:ln>
        </p:spPr>
        <p:txBody>
          <a:bodyPr/>
          <a:lstStyle/>
          <a:p>
            <a:endParaRPr lang="en-US"/>
          </a:p>
        </p:txBody>
      </p:sp>
      <p:sp>
        <p:nvSpPr>
          <p:cNvPr id="3" name="Text 1"/>
          <p:cNvSpPr/>
          <p:nvPr/>
        </p:nvSpPr>
        <p:spPr>
          <a:xfrm>
            <a:off x="365760" y="109728"/>
            <a:ext cx="9875520" cy="2286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Executive summary and decision asks</a:t>
            </a:r>
            <a:endParaRPr lang="en-US" sz="2200" dirty="0"/>
          </a:p>
        </p:txBody>
      </p:sp>
      <p:sp>
        <p:nvSpPr>
          <p:cNvPr id="4" name="Text 2"/>
          <p:cNvSpPr/>
          <p:nvPr/>
        </p:nvSpPr>
        <p:spPr>
          <a:xfrm>
            <a:off x="9738360" y="118872"/>
            <a:ext cx="2011680" cy="182880"/>
          </a:xfrm>
          <a:prstGeom prst="rect">
            <a:avLst/>
          </a:prstGeom>
          <a:noFill/>
          <a:ln/>
        </p:spPr>
        <p:txBody>
          <a:bodyPr wrap="square" lIns="0" tIns="0" rIns="0" bIns="0" rtlCol="0" anchor="ctr"/>
          <a:lstStyle/>
          <a:p>
            <a:pPr marL="0" indent="0" algn="r">
              <a:buNone/>
            </a:pPr>
            <a:r>
              <a:rPr lang="en-US" sz="1000" dirty="0">
                <a:solidFill>
                  <a:srgbClr val="DCE6F1"/>
                </a:solidFill>
              </a:rPr>
              <a:t>What AMG should approve</a:t>
            </a:r>
            <a:endParaRPr lang="en-US" sz="1000" dirty="0"/>
          </a:p>
        </p:txBody>
      </p:sp>
      <p:sp>
        <p:nvSpPr>
          <p:cNvPr id="5" name="Shape 3"/>
          <p:cNvSpPr/>
          <p:nvPr/>
        </p:nvSpPr>
        <p:spPr>
          <a:xfrm>
            <a:off x="411480" y="822960"/>
            <a:ext cx="3657600" cy="1828800"/>
          </a:xfrm>
          <a:prstGeom prst="roundRect">
            <a:avLst>
              <a:gd name="adj" fmla="val 4000"/>
            </a:avLst>
          </a:prstGeom>
          <a:solidFill>
            <a:srgbClr val="F2F7FB"/>
          </a:solidFill>
          <a:ln w="12700">
            <a:solidFill>
              <a:srgbClr val="AFC5DD"/>
            </a:solidFill>
            <a:prstDash val="solid"/>
          </a:ln>
        </p:spPr>
        <p:txBody>
          <a:bodyPr/>
          <a:lstStyle/>
          <a:p>
            <a:endParaRPr lang="en-US"/>
          </a:p>
        </p:txBody>
      </p:sp>
      <p:sp>
        <p:nvSpPr>
          <p:cNvPr id="6" name="Text 4"/>
          <p:cNvSpPr/>
          <p:nvPr/>
        </p:nvSpPr>
        <p:spPr>
          <a:xfrm>
            <a:off x="521208" y="896112"/>
            <a:ext cx="3438144" cy="164592"/>
          </a:xfrm>
          <a:prstGeom prst="rect">
            <a:avLst/>
          </a:prstGeom>
          <a:noFill/>
          <a:ln/>
        </p:spPr>
        <p:txBody>
          <a:bodyPr wrap="square" lIns="0" tIns="0" rIns="0" bIns="0" rtlCol="0" anchor="ctr"/>
          <a:lstStyle/>
          <a:p>
            <a:pPr marL="0" indent="0" algn="l">
              <a:buNone/>
            </a:pPr>
            <a:r>
              <a:rPr lang="en-US" sz="2000" b="1" dirty="0">
                <a:solidFill>
                  <a:srgbClr val="163A5F"/>
                </a:solidFill>
              </a:rPr>
              <a:t>1. Programme approach</a:t>
            </a:r>
            <a:endParaRPr lang="en-US" sz="2000" dirty="0"/>
          </a:p>
        </p:txBody>
      </p:sp>
      <p:sp>
        <p:nvSpPr>
          <p:cNvPr id="7" name="Text 5"/>
          <p:cNvSpPr/>
          <p:nvPr/>
        </p:nvSpPr>
        <p:spPr>
          <a:xfrm>
            <a:off x="521208" y="1097280"/>
            <a:ext cx="3438144" cy="1499616"/>
          </a:xfrm>
          <a:prstGeom prst="rect">
            <a:avLst/>
          </a:prstGeom>
          <a:noFill/>
          <a:ln/>
        </p:spPr>
        <p:txBody>
          <a:bodyPr wrap="square" lIns="254" tIns="254" rIns="254" bIns="254" rtlCol="0" anchor="t">
            <a:normAutofit/>
          </a:bodyPr>
          <a:lstStyle/>
          <a:p>
            <a:pPr marL="0" indent="0">
              <a:buNone/>
            </a:pPr>
            <a:r>
              <a:rPr lang="en-US" dirty="0">
                <a:solidFill>
                  <a:srgbClr val="1F2937"/>
                </a:solidFill>
              </a:rPr>
              <a:t>Use a phased, pilot-first cloud ERP implementation with fit-to-standard design and strong change control.</a:t>
            </a:r>
            <a:endParaRPr lang="en-US" dirty="0"/>
          </a:p>
        </p:txBody>
      </p:sp>
      <p:sp>
        <p:nvSpPr>
          <p:cNvPr id="8" name="Shape 6"/>
          <p:cNvSpPr/>
          <p:nvPr/>
        </p:nvSpPr>
        <p:spPr>
          <a:xfrm>
            <a:off x="4251960" y="822960"/>
            <a:ext cx="3657600" cy="1828800"/>
          </a:xfrm>
          <a:prstGeom prst="roundRect">
            <a:avLst>
              <a:gd name="adj" fmla="val 4000"/>
            </a:avLst>
          </a:prstGeom>
          <a:solidFill>
            <a:srgbClr val="F2F7FB"/>
          </a:solidFill>
          <a:ln w="12700">
            <a:solidFill>
              <a:srgbClr val="AFC5DD"/>
            </a:solidFill>
            <a:prstDash val="solid"/>
          </a:ln>
        </p:spPr>
        <p:txBody>
          <a:bodyPr/>
          <a:lstStyle/>
          <a:p>
            <a:endParaRPr lang="en-US" dirty="0"/>
          </a:p>
        </p:txBody>
      </p:sp>
      <p:sp>
        <p:nvSpPr>
          <p:cNvPr id="9" name="Text 7"/>
          <p:cNvSpPr/>
          <p:nvPr/>
        </p:nvSpPr>
        <p:spPr>
          <a:xfrm>
            <a:off x="4361688" y="896112"/>
            <a:ext cx="3438144" cy="164592"/>
          </a:xfrm>
          <a:prstGeom prst="rect">
            <a:avLst/>
          </a:prstGeom>
          <a:noFill/>
          <a:ln/>
        </p:spPr>
        <p:txBody>
          <a:bodyPr wrap="square" lIns="0" tIns="0" rIns="0" bIns="0" rtlCol="0" anchor="ctr"/>
          <a:lstStyle/>
          <a:p>
            <a:pPr marL="0" indent="0" algn="l">
              <a:buNone/>
            </a:pPr>
            <a:r>
              <a:rPr lang="en-US" sz="2000" b="1" dirty="0">
                <a:solidFill>
                  <a:srgbClr val="163A5F"/>
                </a:solidFill>
              </a:rPr>
              <a:t>2. Scope discipline</a:t>
            </a:r>
            <a:endParaRPr lang="en-US" sz="2000" dirty="0"/>
          </a:p>
        </p:txBody>
      </p:sp>
      <p:sp>
        <p:nvSpPr>
          <p:cNvPr id="10" name="Text 8"/>
          <p:cNvSpPr/>
          <p:nvPr/>
        </p:nvSpPr>
        <p:spPr>
          <a:xfrm>
            <a:off x="4361688" y="1097280"/>
            <a:ext cx="3438144" cy="1499616"/>
          </a:xfrm>
          <a:prstGeom prst="rect">
            <a:avLst/>
          </a:prstGeom>
          <a:noFill/>
          <a:ln/>
        </p:spPr>
        <p:txBody>
          <a:bodyPr wrap="square" lIns="254" tIns="254" rIns="254" bIns="254" rtlCol="0" anchor="t">
            <a:normAutofit/>
          </a:bodyPr>
          <a:lstStyle/>
          <a:p>
            <a:pPr marL="0" indent="0">
              <a:buNone/>
            </a:pPr>
            <a:r>
              <a:rPr lang="en-US" dirty="0">
                <a:solidFill>
                  <a:srgbClr val="1F2937"/>
                </a:solidFill>
              </a:rPr>
              <a:t>Put core finance, manufacturing, procurement, inventory, BOM accuracy, and order processing into Day 1. Defer CRM, HRIS and advanced analytics.</a:t>
            </a:r>
            <a:endParaRPr lang="en-US" dirty="0"/>
          </a:p>
        </p:txBody>
      </p:sp>
      <p:sp>
        <p:nvSpPr>
          <p:cNvPr id="11" name="Shape 9"/>
          <p:cNvSpPr/>
          <p:nvPr/>
        </p:nvSpPr>
        <p:spPr>
          <a:xfrm>
            <a:off x="8092440" y="822960"/>
            <a:ext cx="3657600" cy="1828800"/>
          </a:xfrm>
          <a:prstGeom prst="roundRect">
            <a:avLst>
              <a:gd name="adj" fmla="val 4000"/>
            </a:avLst>
          </a:prstGeom>
          <a:solidFill>
            <a:srgbClr val="F2F7FB"/>
          </a:solidFill>
          <a:ln w="12700">
            <a:solidFill>
              <a:srgbClr val="AFC5DD"/>
            </a:solidFill>
            <a:prstDash val="solid"/>
          </a:ln>
        </p:spPr>
        <p:txBody>
          <a:bodyPr/>
          <a:lstStyle/>
          <a:p>
            <a:endParaRPr lang="en-US" dirty="0"/>
          </a:p>
        </p:txBody>
      </p:sp>
      <p:sp>
        <p:nvSpPr>
          <p:cNvPr id="12" name="Text 10"/>
          <p:cNvSpPr/>
          <p:nvPr/>
        </p:nvSpPr>
        <p:spPr>
          <a:xfrm>
            <a:off x="8202168" y="896112"/>
            <a:ext cx="3438144" cy="164592"/>
          </a:xfrm>
          <a:prstGeom prst="rect">
            <a:avLst/>
          </a:prstGeom>
          <a:noFill/>
          <a:ln/>
        </p:spPr>
        <p:txBody>
          <a:bodyPr wrap="square" lIns="0" tIns="0" rIns="0" bIns="0" rtlCol="0" anchor="ctr"/>
          <a:lstStyle/>
          <a:p>
            <a:pPr marL="0" indent="0" algn="l">
              <a:buNone/>
            </a:pPr>
            <a:r>
              <a:rPr lang="en-US" sz="2000" b="1" dirty="0">
                <a:solidFill>
                  <a:srgbClr val="163A5F"/>
                </a:solidFill>
              </a:rPr>
              <a:t>3. Data continuity</a:t>
            </a:r>
            <a:endParaRPr lang="en-US" sz="2000" dirty="0"/>
          </a:p>
        </p:txBody>
      </p:sp>
      <p:sp>
        <p:nvSpPr>
          <p:cNvPr id="13" name="Text 11"/>
          <p:cNvSpPr/>
          <p:nvPr/>
        </p:nvSpPr>
        <p:spPr>
          <a:xfrm>
            <a:off x="8202168" y="1097280"/>
            <a:ext cx="3438144" cy="1499616"/>
          </a:xfrm>
          <a:prstGeom prst="rect">
            <a:avLst/>
          </a:prstGeom>
          <a:noFill/>
          <a:ln/>
        </p:spPr>
        <p:txBody>
          <a:bodyPr wrap="square" lIns="254" tIns="254" rIns="254" bIns="254" rtlCol="0" anchor="t">
            <a:normAutofit/>
          </a:bodyPr>
          <a:lstStyle/>
          <a:p>
            <a:pPr marL="0" indent="0">
              <a:buNone/>
            </a:pPr>
            <a:r>
              <a:rPr lang="en-US" dirty="0">
                <a:solidFill>
                  <a:srgbClr val="1F2937"/>
                </a:solidFill>
              </a:rPr>
              <a:t>Migrate operational data, keep historical data in a reporting archive, and protect month-end close with a parallel run.</a:t>
            </a:r>
            <a:endParaRPr lang="en-US" dirty="0"/>
          </a:p>
        </p:txBody>
      </p:sp>
      <p:sp>
        <p:nvSpPr>
          <p:cNvPr id="14" name="Shape 12"/>
          <p:cNvSpPr/>
          <p:nvPr/>
        </p:nvSpPr>
        <p:spPr>
          <a:xfrm>
            <a:off x="411480" y="2971800"/>
            <a:ext cx="11338560" cy="2057400"/>
          </a:xfrm>
          <a:prstGeom prst="roundRect">
            <a:avLst>
              <a:gd name="adj" fmla="val 3556"/>
            </a:avLst>
          </a:prstGeom>
          <a:solidFill>
            <a:srgbClr val="FAFAFA"/>
          </a:solidFill>
          <a:ln w="12700">
            <a:solidFill>
              <a:srgbClr val="CBD5E1"/>
            </a:solidFill>
            <a:prstDash val="solid"/>
          </a:ln>
        </p:spPr>
        <p:txBody>
          <a:bodyPr/>
          <a:lstStyle/>
          <a:p>
            <a:endParaRPr lang="en-US"/>
          </a:p>
        </p:txBody>
      </p:sp>
      <p:sp>
        <p:nvSpPr>
          <p:cNvPr id="15" name="Text 13"/>
          <p:cNvSpPr/>
          <p:nvPr/>
        </p:nvSpPr>
        <p:spPr>
          <a:xfrm>
            <a:off x="521208" y="3044952"/>
            <a:ext cx="11119104" cy="164592"/>
          </a:xfrm>
          <a:prstGeom prst="rect">
            <a:avLst/>
          </a:prstGeom>
          <a:noFill/>
          <a:ln/>
        </p:spPr>
        <p:txBody>
          <a:bodyPr wrap="square" lIns="0" tIns="0" rIns="0" bIns="0" rtlCol="0" anchor="ctr"/>
          <a:lstStyle/>
          <a:p>
            <a:pPr marL="0" indent="0" algn="l">
              <a:buNone/>
            </a:pPr>
            <a:r>
              <a:rPr lang="en-US" sz="2000" b="1" dirty="0">
                <a:solidFill>
                  <a:srgbClr val="163A5F"/>
                </a:solidFill>
              </a:rPr>
              <a:t>Executive decision requested</a:t>
            </a:r>
            <a:endParaRPr lang="en-US" sz="2000" dirty="0"/>
          </a:p>
        </p:txBody>
      </p:sp>
      <p:sp>
        <p:nvSpPr>
          <p:cNvPr id="16" name="Text 14"/>
          <p:cNvSpPr/>
          <p:nvPr/>
        </p:nvSpPr>
        <p:spPr>
          <a:xfrm>
            <a:off x="521208" y="3246120"/>
            <a:ext cx="11119104" cy="1728216"/>
          </a:xfrm>
          <a:prstGeom prst="rect">
            <a:avLst/>
          </a:prstGeom>
          <a:noFill/>
          <a:ln/>
        </p:spPr>
        <p:txBody>
          <a:bodyPr wrap="square" lIns="254" tIns="254" rIns="254" bIns="254" rtlCol="0" anchor="t">
            <a:normAutofit/>
          </a:bodyPr>
          <a:lstStyle/>
          <a:p>
            <a:pPr marL="0" indent="0">
              <a:buNone/>
            </a:pPr>
            <a:r>
              <a:rPr lang="en-US" dirty="0">
                <a:solidFill>
                  <a:srgbClr val="1F2937"/>
                </a:solidFill>
              </a:rPr>
              <a:t>Approve the transformation principles, appoint business process owners and a steering committee, freeze Day-1 scope after design sign-off, and authorise a controlled pilot at one site before wider rollout.</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163A5F"/>
          </a:solidFill>
          <a:ln w="12700">
            <a:solidFill>
              <a:srgbClr val="163A5F">
                <a:alpha val="0"/>
              </a:srgbClr>
            </a:solidFill>
            <a:prstDash val="solid"/>
          </a:ln>
        </p:spPr>
        <p:txBody>
          <a:bodyPr/>
          <a:lstStyle/>
          <a:p>
            <a:endParaRPr lang="en-US"/>
          </a:p>
        </p:txBody>
      </p:sp>
      <p:sp>
        <p:nvSpPr>
          <p:cNvPr id="3" name="Text 1"/>
          <p:cNvSpPr/>
          <p:nvPr/>
        </p:nvSpPr>
        <p:spPr>
          <a:xfrm>
            <a:off x="365760" y="109728"/>
            <a:ext cx="9875520" cy="2286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Current-state business impact</a:t>
            </a:r>
            <a:endParaRPr lang="en-US" sz="2200" dirty="0"/>
          </a:p>
        </p:txBody>
      </p:sp>
      <p:sp>
        <p:nvSpPr>
          <p:cNvPr id="4" name="Text 2"/>
          <p:cNvSpPr/>
          <p:nvPr/>
        </p:nvSpPr>
        <p:spPr>
          <a:xfrm>
            <a:off x="9738360" y="118872"/>
            <a:ext cx="2011680" cy="182880"/>
          </a:xfrm>
          <a:prstGeom prst="rect">
            <a:avLst/>
          </a:prstGeom>
          <a:noFill/>
          <a:ln/>
        </p:spPr>
        <p:txBody>
          <a:bodyPr wrap="square" lIns="0" tIns="0" rIns="0" bIns="0" rtlCol="0" anchor="ctr"/>
          <a:lstStyle/>
          <a:p>
            <a:pPr marL="0" indent="0" algn="r">
              <a:buNone/>
            </a:pPr>
            <a:r>
              <a:rPr lang="en-US" sz="1000" dirty="0">
                <a:solidFill>
                  <a:srgbClr val="DCE6F1"/>
                </a:solidFill>
              </a:rPr>
              <a:t>Where the pain shows up today</a:t>
            </a:r>
            <a:endParaRPr lang="en-US" sz="1000" dirty="0"/>
          </a:p>
        </p:txBody>
      </p:sp>
      <p:sp>
        <p:nvSpPr>
          <p:cNvPr id="5" name="Shape 3"/>
          <p:cNvSpPr/>
          <p:nvPr/>
        </p:nvSpPr>
        <p:spPr>
          <a:xfrm>
            <a:off x="457200" y="868680"/>
            <a:ext cx="3383280" cy="1097280"/>
          </a:xfrm>
          <a:prstGeom prst="roundRect">
            <a:avLst>
              <a:gd name="adj" fmla="val 6667"/>
            </a:avLst>
          </a:prstGeom>
          <a:solidFill>
            <a:srgbClr val="FFF4F4"/>
          </a:solidFill>
          <a:ln w="12700">
            <a:solidFill>
              <a:srgbClr val="E5B8B8"/>
            </a:solidFill>
            <a:prstDash val="solid"/>
          </a:ln>
        </p:spPr>
        <p:txBody>
          <a:bodyPr/>
          <a:lstStyle/>
          <a:p>
            <a:endParaRPr lang="en-US"/>
          </a:p>
        </p:txBody>
      </p:sp>
      <p:sp>
        <p:nvSpPr>
          <p:cNvPr id="6" name="Text 4"/>
          <p:cNvSpPr/>
          <p:nvPr/>
        </p:nvSpPr>
        <p:spPr>
          <a:xfrm>
            <a:off x="566928" y="941832"/>
            <a:ext cx="3163824" cy="164592"/>
          </a:xfrm>
          <a:prstGeom prst="rect">
            <a:avLst/>
          </a:prstGeom>
          <a:noFill/>
          <a:ln/>
        </p:spPr>
        <p:txBody>
          <a:bodyPr wrap="square" lIns="0" tIns="0" rIns="0" bIns="0" rtlCol="0" anchor="ctr"/>
          <a:lstStyle/>
          <a:p>
            <a:pPr marL="0" indent="0" algn="l">
              <a:buNone/>
            </a:pPr>
            <a:r>
              <a:rPr lang="en-US" sz="2000" b="1" dirty="0">
                <a:solidFill>
                  <a:srgbClr val="C0392B"/>
                </a:solidFill>
              </a:rPr>
              <a:t>Margin erosion</a:t>
            </a:r>
            <a:endParaRPr lang="en-US" sz="2000" dirty="0"/>
          </a:p>
        </p:txBody>
      </p:sp>
      <p:sp>
        <p:nvSpPr>
          <p:cNvPr id="7" name="Text 5"/>
          <p:cNvSpPr/>
          <p:nvPr/>
        </p:nvSpPr>
        <p:spPr>
          <a:xfrm>
            <a:off x="566928" y="1143000"/>
            <a:ext cx="3163824" cy="768096"/>
          </a:xfrm>
          <a:prstGeom prst="rect">
            <a:avLst/>
          </a:prstGeom>
          <a:noFill/>
          <a:ln/>
        </p:spPr>
        <p:txBody>
          <a:bodyPr wrap="square" lIns="254" tIns="254" rIns="254" bIns="254" rtlCol="0" anchor="t">
            <a:noAutofit/>
          </a:bodyPr>
          <a:lstStyle/>
          <a:p>
            <a:pPr marL="0" indent="0">
              <a:buNone/>
            </a:pPr>
            <a:r>
              <a:rPr lang="en-US" dirty="0">
                <a:solidFill>
                  <a:srgbClr val="1F2937"/>
                </a:solidFill>
              </a:rPr>
              <a:t>Most custom orders have poor cost visibility and hidden overruns.</a:t>
            </a:r>
            <a:endParaRPr lang="en-US" dirty="0"/>
          </a:p>
        </p:txBody>
      </p:sp>
      <p:sp>
        <p:nvSpPr>
          <p:cNvPr id="8" name="Shape 6"/>
          <p:cNvSpPr/>
          <p:nvPr/>
        </p:nvSpPr>
        <p:spPr>
          <a:xfrm>
            <a:off x="3657600" y="868680"/>
            <a:ext cx="3383280" cy="1097280"/>
          </a:xfrm>
          <a:prstGeom prst="roundRect">
            <a:avLst>
              <a:gd name="adj" fmla="val 6667"/>
            </a:avLst>
          </a:prstGeom>
          <a:solidFill>
            <a:srgbClr val="FFF7ED"/>
          </a:solidFill>
          <a:ln w="12700">
            <a:solidFill>
              <a:srgbClr val="F1C27D"/>
            </a:solidFill>
            <a:prstDash val="solid"/>
          </a:ln>
        </p:spPr>
        <p:txBody>
          <a:bodyPr/>
          <a:lstStyle/>
          <a:p>
            <a:endParaRPr lang="en-US"/>
          </a:p>
        </p:txBody>
      </p:sp>
      <p:sp>
        <p:nvSpPr>
          <p:cNvPr id="9" name="Text 7"/>
          <p:cNvSpPr/>
          <p:nvPr/>
        </p:nvSpPr>
        <p:spPr>
          <a:xfrm>
            <a:off x="3767328" y="941832"/>
            <a:ext cx="3163824" cy="164592"/>
          </a:xfrm>
          <a:prstGeom prst="rect">
            <a:avLst/>
          </a:prstGeom>
          <a:noFill/>
          <a:ln/>
        </p:spPr>
        <p:txBody>
          <a:bodyPr wrap="square" lIns="0" tIns="0" rIns="0" bIns="0" rtlCol="0" anchor="ctr"/>
          <a:lstStyle/>
          <a:p>
            <a:pPr marL="0" indent="0" algn="l">
              <a:buNone/>
            </a:pPr>
            <a:r>
              <a:rPr lang="en-US" sz="2000" b="1" dirty="0">
                <a:solidFill>
                  <a:srgbClr val="D97706"/>
                </a:solidFill>
              </a:rPr>
              <a:t>BOM instability</a:t>
            </a:r>
            <a:endParaRPr lang="en-US" sz="2000" dirty="0"/>
          </a:p>
        </p:txBody>
      </p:sp>
      <p:sp>
        <p:nvSpPr>
          <p:cNvPr id="10" name="Text 8"/>
          <p:cNvSpPr/>
          <p:nvPr/>
        </p:nvSpPr>
        <p:spPr>
          <a:xfrm>
            <a:off x="3767328" y="1143000"/>
            <a:ext cx="3163824" cy="768096"/>
          </a:xfrm>
          <a:prstGeom prst="rect">
            <a:avLst/>
          </a:prstGeom>
          <a:noFill/>
          <a:ln/>
        </p:spPr>
        <p:txBody>
          <a:bodyPr wrap="square" lIns="254" tIns="254" rIns="254" bIns="254" rtlCol="0" anchor="t">
            <a:noAutofit/>
          </a:bodyPr>
          <a:lstStyle/>
          <a:p>
            <a:pPr marL="0" indent="0">
              <a:buNone/>
            </a:pPr>
            <a:r>
              <a:rPr lang="en-US" dirty="0">
                <a:solidFill>
                  <a:srgbClr val="1F2937"/>
                </a:solidFill>
              </a:rPr>
              <a:t>Engineering updates do not always reach manufacturing in time.</a:t>
            </a:r>
            <a:endParaRPr lang="en-US" dirty="0"/>
          </a:p>
        </p:txBody>
      </p:sp>
      <p:sp>
        <p:nvSpPr>
          <p:cNvPr id="11" name="Shape 9"/>
          <p:cNvSpPr/>
          <p:nvPr/>
        </p:nvSpPr>
        <p:spPr>
          <a:xfrm>
            <a:off x="6858000" y="868680"/>
            <a:ext cx="3383280" cy="1097280"/>
          </a:xfrm>
          <a:prstGeom prst="roundRect">
            <a:avLst>
              <a:gd name="adj" fmla="val 6667"/>
            </a:avLst>
          </a:prstGeom>
          <a:solidFill>
            <a:srgbClr val="F5F7FA"/>
          </a:solidFill>
          <a:ln w="12700">
            <a:solidFill>
              <a:srgbClr val="CBD5E1"/>
            </a:solidFill>
            <a:prstDash val="solid"/>
          </a:ln>
        </p:spPr>
        <p:txBody>
          <a:bodyPr/>
          <a:lstStyle/>
          <a:p>
            <a:endParaRPr lang="en-US" dirty="0"/>
          </a:p>
        </p:txBody>
      </p:sp>
      <p:sp>
        <p:nvSpPr>
          <p:cNvPr id="12" name="Text 10"/>
          <p:cNvSpPr/>
          <p:nvPr/>
        </p:nvSpPr>
        <p:spPr>
          <a:xfrm>
            <a:off x="6967728" y="941832"/>
            <a:ext cx="3163824" cy="164592"/>
          </a:xfrm>
          <a:prstGeom prst="rect">
            <a:avLst/>
          </a:prstGeom>
          <a:noFill/>
          <a:ln/>
        </p:spPr>
        <p:txBody>
          <a:bodyPr wrap="square" lIns="0" tIns="0" rIns="0" bIns="0" rtlCol="0" anchor="ctr"/>
          <a:lstStyle/>
          <a:p>
            <a:pPr marL="0" indent="0" algn="l">
              <a:buNone/>
            </a:pPr>
            <a:r>
              <a:rPr lang="en-US" sz="2000" b="1" dirty="0">
                <a:solidFill>
                  <a:srgbClr val="163A5F"/>
                </a:solidFill>
              </a:rPr>
              <a:t>Manual workarounds</a:t>
            </a:r>
            <a:endParaRPr lang="en-US" sz="2000" dirty="0"/>
          </a:p>
        </p:txBody>
      </p:sp>
      <p:sp>
        <p:nvSpPr>
          <p:cNvPr id="13" name="Text 11"/>
          <p:cNvSpPr/>
          <p:nvPr/>
        </p:nvSpPr>
        <p:spPr>
          <a:xfrm>
            <a:off x="6967728" y="1143000"/>
            <a:ext cx="3163824" cy="768096"/>
          </a:xfrm>
          <a:prstGeom prst="rect">
            <a:avLst/>
          </a:prstGeom>
          <a:noFill/>
          <a:ln/>
        </p:spPr>
        <p:txBody>
          <a:bodyPr wrap="square" lIns="254" tIns="254" rIns="254" bIns="254" rtlCol="0" anchor="t">
            <a:normAutofit/>
          </a:bodyPr>
          <a:lstStyle/>
          <a:p>
            <a:pPr marL="0" indent="0">
              <a:buNone/>
            </a:pPr>
            <a:r>
              <a:rPr lang="en-US" dirty="0">
                <a:solidFill>
                  <a:srgbClr val="1F2937"/>
                </a:solidFill>
              </a:rPr>
              <a:t>Excel is used to patch gaps between disconnected systems.</a:t>
            </a:r>
            <a:endParaRPr lang="en-US" dirty="0"/>
          </a:p>
        </p:txBody>
      </p:sp>
      <p:sp>
        <p:nvSpPr>
          <p:cNvPr id="14" name="Shape 12"/>
          <p:cNvSpPr/>
          <p:nvPr/>
        </p:nvSpPr>
        <p:spPr>
          <a:xfrm>
            <a:off x="457200" y="2825496"/>
            <a:ext cx="11338560" cy="2951050"/>
          </a:xfrm>
          <a:prstGeom prst="roundRect">
            <a:avLst>
              <a:gd name="adj" fmla="val 2462"/>
            </a:avLst>
          </a:prstGeom>
          <a:solidFill>
            <a:srgbClr val="FFFFFF"/>
          </a:solidFill>
          <a:ln w="12700">
            <a:solidFill>
              <a:srgbClr val="CBD5E1"/>
            </a:solidFill>
            <a:prstDash val="solid"/>
          </a:ln>
        </p:spPr>
        <p:txBody>
          <a:bodyPr/>
          <a:lstStyle/>
          <a:p>
            <a:endParaRPr lang="en-US"/>
          </a:p>
        </p:txBody>
      </p:sp>
      <p:sp>
        <p:nvSpPr>
          <p:cNvPr id="15" name="Text 13"/>
          <p:cNvSpPr/>
          <p:nvPr/>
        </p:nvSpPr>
        <p:spPr>
          <a:xfrm>
            <a:off x="566928" y="2919046"/>
            <a:ext cx="11119104" cy="491664"/>
          </a:xfrm>
          <a:prstGeom prst="rect">
            <a:avLst/>
          </a:prstGeom>
          <a:noFill/>
          <a:ln/>
        </p:spPr>
        <p:txBody>
          <a:bodyPr wrap="square" lIns="0" tIns="0" rIns="0" bIns="0" rtlCol="0" anchor="ctr"/>
          <a:lstStyle/>
          <a:p>
            <a:pPr marL="0" indent="0" algn="l">
              <a:buNone/>
            </a:pPr>
            <a:r>
              <a:rPr lang="en-US" sz="2000" b="1" dirty="0">
                <a:solidFill>
                  <a:srgbClr val="163A5F"/>
                </a:solidFill>
              </a:rPr>
              <a:t>Operational consequences</a:t>
            </a:r>
            <a:endParaRPr lang="en-US" sz="2000" dirty="0"/>
          </a:p>
        </p:txBody>
      </p:sp>
      <p:sp>
        <p:nvSpPr>
          <p:cNvPr id="16" name="Text 14"/>
          <p:cNvSpPr/>
          <p:nvPr/>
        </p:nvSpPr>
        <p:spPr>
          <a:xfrm>
            <a:off x="566928" y="3429000"/>
            <a:ext cx="11119104" cy="2110154"/>
          </a:xfrm>
          <a:prstGeom prst="rect">
            <a:avLst/>
          </a:prstGeom>
          <a:noFill/>
          <a:ln/>
        </p:spPr>
        <p:txBody>
          <a:bodyPr wrap="square" lIns="254" tIns="254" rIns="254" bIns="254" rtlCol="0" anchor="t">
            <a:normAutofit/>
          </a:bodyPr>
          <a:lstStyle/>
          <a:p>
            <a:pPr marL="0" indent="0">
              <a:buNone/>
            </a:pPr>
            <a:r>
              <a:rPr lang="en-US" dirty="0">
                <a:solidFill>
                  <a:srgbClr val="1F2937"/>
                </a:solidFill>
              </a:rPr>
              <a:t>•</a:t>
            </a:r>
            <a:r>
              <a:rPr lang="en-US" sz="1000" dirty="0">
                <a:solidFill>
                  <a:srgbClr val="1F2937"/>
                </a:solidFill>
              </a:rPr>
              <a:t> </a:t>
            </a:r>
            <a:r>
              <a:rPr lang="en-US" dirty="0">
                <a:solidFill>
                  <a:srgbClr val="1F2937"/>
                </a:solidFill>
              </a:rPr>
              <a:t>Manufacturing delays when BOM sync fails</a:t>
            </a:r>
            <a:endParaRPr lang="en-US" dirty="0"/>
          </a:p>
          <a:p>
            <a:pPr marL="0" indent="0">
              <a:buNone/>
            </a:pPr>
            <a:r>
              <a:rPr lang="en-US" dirty="0">
                <a:solidFill>
                  <a:srgbClr val="1F2937"/>
                </a:solidFill>
              </a:rPr>
              <a:t>• Unreliable labour tracking and contribution margin reporting</a:t>
            </a:r>
            <a:endParaRPr lang="en-US" dirty="0"/>
          </a:p>
          <a:p>
            <a:pPr marL="0" indent="0">
              <a:buNone/>
            </a:pPr>
            <a:r>
              <a:rPr lang="en-US" dirty="0">
                <a:solidFill>
                  <a:srgbClr val="1F2937"/>
                </a:solidFill>
              </a:rPr>
              <a:t>• Duplicate data entry across systems</a:t>
            </a:r>
            <a:endParaRPr lang="en-US" dirty="0"/>
          </a:p>
          <a:p>
            <a:pPr marL="0" indent="0">
              <a:buNone/>
            </a:pPr>
            <a:r>
              <a:rPr lang="en-US" dirty="0">
                <a:solidFill>
                  <a:srgbClr val="1F2937"/>
                </a:solidFill>
              </a:rPr>
              <a:t>• Higher risk of rework, expedites, and missed delivery dates</a:t>
            </a:r>
            <a:endParaRPr lang="en-US" dirty="0"/>
          </a:p>
          <a:p>
            <a:pPr marL="0" indent="0">
              <a:buNone/>
            </a:pPr>
            <a:r>
              <a:rPr lang="en-US" dirty="0">
                <a:solidFill>
                  <a:srgbClr val="1F2937"/>
                </a:solidFill>
              </a:rPr>
              <a:t>• Executives cannot confidently see which orders are profitable</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163A5F"/>
          </a:solidFill>
          <a:ln w="12700">
            <a:solidFill>
              <a:srgbClr val="163A5F">
                <a:alpha val="0"/>
              </a:srgbClr>
            </a:solidFill>
            <a:prstDash val="solid"/>
          </a:ln>
        </p:spPr>
        <p:txBody>
          <a:bodyPr/>
          <a:lstStyle/>
          <a:p>
            <a:endParaRPr lang="en-US"/>
          </a:p>
        </p:txBody>
      </p:sp>
      <p:sp>
        <p:nvSpPr>
          <p:cNvPr id="3" name="Text 1"/>
          <p:cNvSpPr/>
          <p:nvPr/>
        </p:nvSpPr>
        <p:spPr>
          <a:xfrm>
            <a:off x="365760" y="109728"/>
            <a:ext cx="9875520" cy="2286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Transformation principles</a:t>
            </a:r>
            <a:endParaRPr lang="en-US" sz="2200" dirty="0"/>
          </a:p>
        </p:txBody>
      </p:sp>
      <p:sp>
        <p:nvSpPr>
          <p:cNvPr id="4" name="Text 2"/>
          <p:cNvSpPr/>
          <p:nvPr/>
        </p:nvSpPr>
        <p:spPr>
          <a:xfrm>
            <a:off x="9738360" y="118872"/>
            <a:ext cx="2011680" cy="182880"/>
          </a:xfrm>
          <a:prstGeom prst="rect">
            <a:avLst/>
          </a:prstGeom>
          <a:noFill/>
          <a:ln/>
        </p:spPr>
        <p:txBody>
          <a:bodyPr wrap="square" lIns="0" tIns="0" rIns="0" bIns="0" rtlCol="0" anchor="ctr"/>
          <a:lstStyle/>
          <a:p>
            <a:pPr marL="0" indent="0" algn="r">
              <a:buNone/>
            </a:pPr>
            <a:r>
              <a:rPr lang="en-US" sz="1000" dirty="0">
                <a:solidFill>
                  <a:srgbClr val="DCE6F1"/>
                </a:solidFill>
              </a:rPr>
              <a:t>How AMG reduces implementation risk</a:t>
            </a:r>
            <a:endParaRPr lang="en-US" sz="1000" dirty="0"/>
          </a:p>
        </p:txBody>
      </p:sp>
      <p:sp>
        <p:nvSpPr>
          <p:cNvPr id="5" name="Shape 3"/>
          <p:cNvSpPr/>
          <p:nvPr/>
        </p:nvSpPr>
        <p:spPr>
          <a:xfrm>
            <a:off x="548640" y="960120"/>
            <a:ext cx="2606040" cy="1828800"/>
          </a:xfrm>
          <a:prstGeom prst="roundRect">
            <a:avLst>
              <a:gd name="adj" fmla="val 4000"/>
            </a:avLst>
          </a:prstGeom>
          <a:solidFill>
            <a:srgbClr val="EEF5FB"/>
          </a:solidFill>
          <a:ln w="12700">
            <a:solidFill>
              <a:srgbClr val="AEC7DC"/>
            </a:solidFill>
            <a:prstDash val="solid"/>
          </a:ln>
        </p:spPr>
        <p:txBody>
          <a:bodyPr/>
          <a:lstStyle/>
          <a:p>
            <a:endParaRPr lang="en-US"/>
          </a:p>
        </p:txBody>
      </p:sp>
      <p:sp>
        <p:nvSpPr>
          <p:cNvPr id="6" name="Text 4"/>
          <p:cNvSpPr/>
          <p:nvPr/>
        </p:nvSpPr>
        <p:spPr>
          <a:xfrm>
            <a:off x="658368" y="1033272"/>
            <a:ext cx="2386584" cy="164592"/>
          </a:xfrm>
          <a:prstGeom prst="rect">
            <a:avLst/>
          </a:prstGeom>
          <a:noFill/>
          <a:ln/>
        </p:spPr>
        <p:txBody>
          <a:bodyPr wrap="square" lIns="0" tIns="0" rIns="0" bIns="0" rtlCol="0" anchor="ctr"/>
          <a:lstStyle/>
          <a:p>
            <a:pPr marL="0" indent="0" algn="l">
              <a:buNone/>
            </a:pPr>
            <a:r>
              <a:rPr lang="en-US" sz="2000" b="1" dirty="0">
                <a:solidFill>
                  <a:srgbClr val="163A5F"/>
                </a:solidFill>
              </a:rPr>
              <a:t>Fit-to-standard</a:t>
            </a:r>
            <a:endParaRPr lang="en-US" sz="2000" dirty="0"/>
          </a:p>
        </p:txBody>
      </p:sp>
      <p:sp>
        <p:nvSpPr>
          <p:cNvPr id="7" name="Text 5"/>
          <p:cNvSpPr/>
          <p:nvPr/>
        </p:nvSpPr>
        <p:spPr>
          <a:xfrm>
            <a:off x="658368" y="1234440"/>
            <a:ext cx="2386584" cy="1499616"/>
          </a:xfrm>
          <a:prstGeom prst="rect">
            <a:avLst/>
          </a:prstGeom>
          <a:noFill/>
          <a:ln/>
        </p:spPr>
        <p:txBody>
          <a:bodyPr wrap="square" lIns="254" tIns="254" rIns="254" bIns="254" rtlCol="0" anchor="t">
            <a:normAutofit/>
          </a:bodyPr>
          <a:lstStyle/>
          <a:p>
            <a:pPr marL="0" indent="0">
              <a:buNone/>
            </a:pPr>
            <a:r>
              <a:rPr lang="en-US" dirty="0">
                <a:solidFill>
                  <a:srgbClr val="1F2937"/>
                </a:solidFill>
              </a:rPr>
              <a:t>Start from the ERP’s standard processes, then identify only the necessary gaps.</a:t>
            </a:r>
            <a:endParaRPr lang="en-US" dirty="0"/>
          </a:p>
        </p:txBody>
      </p:sp>
      <p:sp>
        <p:nvSpPr>
          <p:cNvPr id="8" name="Shape 6"/>
          <p:cNvSpPr/>
          <p:nvPr/>
        </p:nvSpPr>
        <p:spPr>
          <a:xfrm>
            <a:off x="3246120" y="960120"/>
            <a:ext cx="2606040" cy="1828800"/>
          </a:xfrm>
          <a:prstGeom prst="roundRect">
            <a:avLst>
              <a:gd name="adj" fmla="val 4000"/>
            </a:avLst>
          </a:prstGeom>
          <a:solidFill>
            <a:srgbClr val="EEF5FB"/>
          </a:solidFill>
          <a:ln w="12700">
            <a:solidFill>
              <a:srgbClr val="AEC7DC"/>
            </a:solidFill>
            <a:prstDash val="solid"/>
          </a:ln>
        </p:spPr>
        <p:txBody>
          <a:bodyPr/>
          <a:lstStyle/>
          <a:p>
            <a:endParaRPr lang="en-US" dirty="0"/>
          </a:p>
        </p:txBody>
      </p:sp>
      <p:sp>
        <p:nvSpPr>
          <p:cNvPr id="9" name="Text 7"/>
          <p:cNvSpPr/>
          <p:nvPr/>
        </p:nvSpPr>
        <p:spPr>
          <a:xfrm>
            <a:off x="3355848" y="1033272"/>
            <a:ext cx="2386584" cy="164592"/>
          </a:xfrm>
          <a:prstGeom prst="rect">
            <a:avLst/>
          </a:prstGeom>
          <a:noFill/>
          <a:ln/>
        </p:spPr>
        <p:txBody>
          <a:bodyPr wrap="square" lIns="0" tIns="0" rIns="0" bIns="0" rtlCol="0" anchor="ctr"/>
          <a:lstStyle/>
          <a:p>
            <a:pPr marL="0" indent="0" algn="l">
              <a:buNone/>
            </a:pPr>
            <a:r>
              <a:rPr lang="en-US" sz="2000" b="1" dirty="0">
                <a:solidFill>
                  <a:srgbClr val="163A5F"/>
                </a:solidFill>
              </a:rPr>
              <a:t>Pilot first</a:t>
            </a:r>
            <a:endParaRPr lang="en-US" sz="2000" dirty="0"/>
          </a:p>
        </p:txBody>
      </p:sp>
      <p:sp>
        <p:nvSpPr>
          <p:cNvPr id="10" name="Text 8"/>
          <p:cNvSpPr/>
          <p:nvPr/>
        </p:nvSpPr>
        <p:spPr>
          <a:xfrm>
            <a:off x="3355848" y="1234440"/>
            <a:ext cx="2386584" cy="1499616"/>
          </a:xfrm>
          <a:prstGeom prst="rect">
            <a:avLst/>
          </a:prstGeom>
          <a:noFill/>
          <a:ln/>
        </p:spPr>
        <p:txBody>
          <a:bodyPr wrap="square" lIns="254" tIns="254" rIns="254" bIns="254" rtlCol="0" anchor="t">
            <a:normAutofit/>
          </a:bodyPr>
          <a:lstStyle/>
          <a:p>
            <a:pPr marL="0" indent="0">
              <a:buNone/>
            </a:pPr>
            <a:r>
              <a:rPr lang="en-US" dirty="0">
                <a:solidFill>
                  <a:srgbClr val="1F2937"/>
                </a:solidFill>
              </a:rPr>
              <a:t>Prove the model at one site before rolling out to the rest of the organisation.</a:t>
            </a:r>
            <a:endParaRPr lang="en-US" dirty="0"/>
          </a:p>
        </p:txBody>
      </p:sp>
      <p:sp>
        <p:nvSpPr>
          <p:cNvPr id="11" name="Shape 9"/>
          <p:cNvSpPr/>
          <p:nvPr/>
        </p:nvSpPr>
        <p:spPr>
          <a:xfrm>
            <a:off x="5943600" y="960120"/>
            <a:ext cx="2606040" cy="1828800"/>
          </a:xfrm>
          <a:prstGeom prst="roundRect">
            <a:avLst>
              <a:gd name="adj" fmla="val 4000"/>
            </a:avLst>
          </a:prstGeom>
          <a:solidFill>
            <a:srgbClr val="EEF5FB"/>
          </a:solidFill>
          <a:ln w="12700">
            <a:solidFill>
              <a:srgbClr val="AEC7DC"/>
            </a:solidFill>
            <a:prstDash val="solid"/>
          </a:ln>
        </p:spPr>
        <p:txBody>
          <a:bodyPr/>
          <a:lstStyle/>
          <a:p>
            <a:endParaRPr lang="en-US"/>
          </a:p>
        </p:txBody>
      </p:sp>
      <p:sp>
        <p:nvSpPr>
          <p:cNvPr id="12" name="Text 10"/>
          <p:cNvSpPr/>
          <p:nvPr/>
        </p:nvSpPr>
        <p:spPr>
          <a:xfrm>
            <a:off x="6053328" y="1033272"/>
            <a:ext cx="2386584" cy="566928"/>
          </a:xfrm>
          <a:prstGeom prst="rect">
            <a:avLst/>
          </a:prstGeom>
          <a:noFill/>
          <a:ln/>
        </p:spPr>
        <p:txBody>
          <a:bodyPr wrap="square" lIns="0" tIns="0" rIns="0" bIns="0" rtlCol="0" anchor="ctr"/>
          <a:lstStyle/>
          <a:p>
            <a:pPr marL="0" indent="0" algn="l">
              <a:buNone/>
            </a:pPr>
            <a:r>
              <a:rPr lang="en-US" sz="2000" b="1" dirty="0">
                <a:solidFill>
                  <a:srgbClr val="163A5F"/>
                </a:solidFill>
              </a:rPr>
              <a:t>Configure before customising</a:t>
            </a:r>
            <a:endParaRPr lang="en-US" sz="2000" dirty="0"/>
          </a:p>
        </p:txBody>
      </p:sp>
      <p:sp>
        <p:nvSpPr>
          <p:cNvPr id="13" name="Text 11"/>
          <p:cNvSpPr/>
          <p:nvPr/>
        </p:nvSpPr>
        <p:spPr>
          <a:xfrm>
            <a:off x="6053328" y="1655064"/>
            <a:ext cx="2386584" cy="903498"/>
          </a:xfrm>
          <a:prstGeom prst="rect">
            <a:avLst/>
          </a:prstGeom>
          <a:noFill/>
          <a:ln/>
        </p:spPr>
        <p:txBody>
          <a:bodyPr wrap="square" lIns="254" tIns="254" rIns="254" bIns="254" rtlCol="0" anchor="t">
            <a:normAutofit/>
          </a:bodyPr>
          <a:lstStyle/>
          <a:p>
            <a:pPr marL="0" indent="0">
              <a:buNone/>
            </a:pPr>
            <a:r>
              <a:rPr lang="en-US" dirty="0">
                <a:solidFill>
                  <a:srgbClr val="1F2937"/>
                </a:solidFill>
              </a:rPr>
              <a:t>Use settings and extensions before changing core code</a:t>
            </a:r>
            <a:r>
              <a:rPr lang="en-US" sz="1000" dirty="0">
                <a:solidFill>
                  <a:srgbClr val="1F2937"/>
                </a:solidFill>
              </a:rPr>
              <a:t>.</a:t>
            </a:r>
            <a:endParaRPr lang="en-US" sz="1000" dirty="0"/>
          </a:p>
        </p:txBody>
      </p:sp>
      <p:sp>
        <p:nvSpPr>
          <p:cNvPr id="14" name="Shape 12"/>
          <p:cNvSpPr/>
          <p:nvPr/>
        </p:nvSpPr>
        <p:spPr>
          <a:xfrm>
            <a:off x="8641080" y="960120"/>
            <a:ext cx="2606040" cy="1828800"/>
          </a:xfrm>
          <a:prstGeom prst="roundRect">
            <a:avLst>
              <a:gd name="adj" fmla="val 4000"/>
            </a:avLst>
          </a:prstGeom>
          <a:solidFill>
            <a:srgbClr val="EEF5FB"/>
          </a:solidFill>
          <a:ln w="12700">
            <a:solidFill>
              <a:srgbClr val="AEC7DC"/>
            </a:solidFill>
            <a:prstDash val="solid"/>
          </a:ln>
        </p:spPr>
        <p:txBody>
          <a:bodyPr/>
          <a:lstStyle/>
          <a:p>
            <a:endParaRPr lang="en-US"/>
          </a:p>
        </p:txBody>
      </p:sp>
      <p:sp>
        <p:nvSpPr>
          <p:cNvPr id="15" name="Text 13"/>
          <p:cNvSpPr/>
          <p:nvPr/>
        </p:nvSpPr>
        <p:spPr>
          <a:xfrm>
            <a:off x="8750808" y="1033272"/>
            <a:ext cx="2386584" cy="164592"/>
          </a:xfrm>
          <a:prstGeom prst="rect">
            <a:avLst/>
          </a:prstGeom>
          <a:noFill/>
          <a:ln/>
        </p:spPr>
        <p:txBody>
          <a:bodyPr wrap="square" lIns="0" tIns="0" rIns="0" bIns="0" rtlCol="0" anchor="ctr"/>
          <a:lstStyle/>
          <a:p>
            <a:pPr marL="0" indent="0" algn="l">
              <a:buNone/>
            </a:pPr>
            <a:r>
              <a:rPr lang="en-US" sz="2000" b="1" dirty="0">
                <a:solidFill>
                  <a:srgbClr val="163A5F"/>
                </a:solidFill>
              </a:rPr>
              <a:t>Govern by value</a:t>
            </a:r>
            <a:endParaRPr lang="en-US" sz="2000" dirty="0"/>
          </a:p>
        </p:txBody>
      </p:sp>
      <p:sp>
        <p:nvSpPr>
          <p:cNvPr id="16" name="Text 14"/>
          <p:cNvSpPr/>
          <p:nvPr/>
        </p:nvSpPr>
        <p:spPr>
          <a:xfrm>
            <a:off x="8750808" y="1234440"/>
            <a:ext cx="2386584" cy="1499616"/>
          </a:xfrm>
          <a:prstGeom prst="rect">
            <a:avLst/>
          </a:prstGeom>
          <a:noFill/>
          <a:ln/>
        </p:spPr>
        <p:txBody>
          <a:bodyPr wrap="square" lIns="254" tIns="254" rIns="254" bIns="254" rtlCol="0" anchor="t">
            <a:normAutofit/>
          </a:bodyPr>
          <a:lstStyle/>
          <a:p>
            <a:pPr marL="0" indent="0">
              <a:buNone/>
            </a:pPr>
            <a:r>
              <a:rPr lang="en-US" dirty="0">
                <a:solidFill>
                  <a:srgbClr val="1F2937"/>
                </a:solidFill>
              </a:rPr>
              <a:t>Approve only changes that clearly improve control, compliance, or Day-1 readiness.</a:t>
            </a:r>
            <a:endParaRPr lang="en-US" dirty="0"/>
          </a:p>
        </p:txBody>
      </p:sp>
      <p:sp>
        <p:nvSpPr>
          <p:cNvPr id="17" name="Shape 15"/>
          <p:cNvSpPr/>
          <p:nvPr/>
        </p:nvSpPr>
        <p:spPr>
          <a:xfrm>
            <a:off x="1143000" y="3520440"/>
            <a:ext cx="9875520" cy="1325880"/>
          </a:xfrm>
          <a:prstGeom prst="roundRect">
            <a:avLst>
              <a:gd name="adj" fmla="val 5517"/>
            </a:avLst>
          </a:prstGeom>
          <a:solidFill>
            <a:srgbClr val="F9FAFB"/>
          </a:solidFill>
          <a:ln w="12700">
            <a:solidFill>
              <a:srgbClr val="CBD5E1"/>
            </a:solidFill>
            <a:prstDash val="solid"/>
          </a:ln>
        </p:spPr>
        <p:txBody>
          <a:bodyPr/>
          <a:lstStyle/>
          <a:p>
            <a:endParaRPr lang="en-US" dirty="0"/>
          </a:p>
        </p:txBody>
      </p:sp>
      <p:sp>
        <p:nvSpPr>
          <p:cNvPr id="18" name="Text 16"/>
          <p:cNvSpPr/>
          <p:nvPr/>
        </p:nvSpPr>
        <p:spPr>
          <a:xfrm>
            <a:off x="1252728" y="3593592"/>
            <a:ext cx="9656064" cy="164592"/>
          </a:xfrm>
          <a:prstGeom prst="rect">
            <a:avLst/>
          </a:prstGeom>
          <a:noFill/>
          <a:ln/>
        </p:spPr>
        <p:txBody>
          <a:bodyPr wrap="square" lIns="0" tIns="0" rIns="0" bIns="0" rtlCol="0" anchor="ctr"/>
          <a:lstStyle/>
          <a:p>
            <a:pPr marL="0" indent="0" algn="l">
              <a:buNone/>
            </a:pPr>
            <a:r>
              <a:rPr lang="en-US" sz="2000" b="1" dirty="0">
                <a:solidFill>
                  <a:srgbClr val="163A5F"/>
                </a:solidFill>
              </a:rPr>
              <a:t>Operating rule</a:t>
            </a:r>
            <a:endParaRPr lang="en-US" sz="2000" dirty="0"/>
          </a:p>
        </p:txBody>
      </p:sp>
      <p:sp>
        <p:nvSpPr>
          <p:cNvPr id="19" name="Text 17"/>
          <p:cNvSpPr/>
          <p:nvPr/>
        </p:nvSpPr>
        <p:spPr>
          <a:xfrm>
            <a:off x="1252728" y="3794760"/>
            <a:ext cx="9656064" cy="996696"/>
          </a:xfrm>
          <a:prstGeom prst="rect">
            <a:avLst/>
          </a:prstGeom>
          <a:noFill/>
          <a:ln/>
        </p:spPr>
        <p:txBody>
          <a:bodyPr wrap="square" lIns="254" tIns="254" rIns="254" bIns="254" rtlCol="0" anchor="t">
            <a:normAutofit/>
          </a:bodyPr>
          <a:lstStyle/>
          <a:p>
            <a:pPr marL="0" indent="0">
              <a:buNone/>
            </a:pPr>
            <a:r>
              <a:rPr lang="en-US" dirty="0">
                <a:solidFill>
                  <a:srgbClr val="1F2937"/>
                </a:solidFill>
              </a:rPr>
              <a:t>Every request is judged against four questions: does it help AMG run the plant, does it reduce risk, can it be delivered on time, and can it be supported after go-live?</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163A5F"/>
          </a:solidFill>
          <a:ln w="12700">
            <a:solidFill>
              <a:srgbClr val="163A5F">
                <a:alpha val="0"/>
              </a:srgbClr>
            </a:solidFill>
            <a:prstDash val="solid"/>
          </a:ln>
        </p:spPr>
        <p:txBody>
          <a:bodyPr/>
          <a:lstStyle/>
          <a:p>
            <a:endParaRPr lang="en-US"/>
          </a:p>
        </p:txBody>
      </p:sp>
      <p:sp>
        <p:nvSpPr>
          <p:cNvPr id="3" name="Text 1"/>
          <p:cNvSpPr/>
          <p:nvPr/>
        </p:nvSpPr>
        <p:spPr>
          <a:xfrm>
            <a:off x="365760" y="109728"/>
            <a:ext cx="9875520" cy="2286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Current-state architecture</a:t>
            </a:r>
            <a:endParaRPr lang="en-US" sz="2200" dirty="0"/>
          </a:p>
        </p:txBody>
      </p:sp>
      <p:sp>
        <p:nvSpPr>
          <p:cNvPr id="4" name="Text 2"/>
          <p:cNvSpPr/>
          <p:nvPr/>
        </p:nvSpPr>
        <p:spPr>
          <a:xfrm>
            <a:off x="9738360" y="118872"/>
            <a:ext cx="2011680" cy="182880"/>
          </a:xfrm>
          <a:prstGeom prst="rect">
            <a:avLst/>
          </a:prstGeom>
          <a:noFill/>
          <a:ln/>
        </p:spPr>
        <p:txBody>
          <a:bodyPr wrap="square" lIns="0" tIns="0" rIns="0" bIns="0" rtlCol="0" anchor="ctr"/>
          <a:lstStyle/>
          <a:p>
            <a:pPr marL="0" indent="0" algn="r">
              <a:buNone/>
            </a:pPr>
            <a:r>
              <a:rPr lang="en-US" sz="1000" dirty="0">
                <a:solidFill>
                  <a:srgbClr val="DCE6F1"/>
                </a:solidFill>
              </a:rPr>
              <a:t>Fragmented systems and fragile data flow</a:t>
            </a:r>
            <a:endParaRPr lang="en-US" sz="1000" dirty="0"/>
          </a:p>
        </p:txBody>
      </p:sp>
      <p:sp>
        <p:nvSpPr>
          <p:cNvPr id="5" name="Shape 3"/>
          <p:cNvSpPr/>
          <p:nvPr/>
        </p:nvSpPr>
        <p:spPr>
          <a:xfrm>
            <a:off x="548640" y="2011680"/>
            <a:ext cx="1828800" cy="914400"/>
          </a:xfrm>
          <a:prstGeom prst="roundRect">
            <a:avLst>
              <a:gd name="adj" fmla="val 8000"/>
            </a:avLst>
          </a:prstGeom>
          <a:solidFill>
            <a:srgbClr val="FFF7ED"/>
          </a:solidFill>
          <a:ln w="12700">
            <a:solidFill>
              <a:srgbClr val="F1C27D"/>
            </a:solidFill>
            <a:prstDash val="solid"/>
          </a:ln>
        </p:spPr>
        <p:txBody>
          <a:bodyPr/>
          <a:lstStyle/>
          <a:p>
            <a:endParaRPr lang="en-US"/>
          </a:p>
        </p:txBody>
      </p:sp>
      <p:sp>
        <p:nvSpPr>
          <p:cNvPr id="6" name="Text 4"/>
          <p:cNvSpPr/>
          <p:nvPr/>
        </p:nvSpPr>
        <p:spPr>
          <a:xfrm>
            <a:off x="658368" y="2084832"/>
            <a:ext cx="1609344" cy="164592"/>
          </a:xfrm>
          <a:prstGeom prst="rect">
            <a:avLst/>
          </a:prstGeom>
          <a:noFill/>
          <a:ln/>
        </p:spPr>
        <p:txBody>
          <a:bodyPr wrap="square" lIns="0" tIns="0" rIns="0" bIns="0" rtlCol="0" anchor="ctr"/>
          <a:lstStyle/>
          <a:p>
            <a:pPr marL="0" indent="0" algn="l">
              <a:buNone/>
            </a:pPr>
            <a:r>
              <a:rPr lang="en-US" b="1" dirty="0">
                <a:solidFill>
                  <a:srgbClr val="D97706"/>
                </a:solidFill>
              </a:rPr>
              <a:t>Engineering DB</a:t>
            </a:r>
            <a:endParaRPr lang="en-US" dirty="0"/>
          </a:p>
        </p:txBody>
      </p:sp>
      <p:sp>
        <p:nvSpPr>
          <p:cNvPr id="7" name="Text 5"/>
          <p:cNvSpPr/>
          <p:nvPr/>
        </p:nvSpPr>
        <p:spPr>
          <a:xfrm>
            <a:off x="658368" y="2286000"/>
            <a:ext cx="1609344" cy="585216"/>
          </a:xfrm>
          <a:prstGeom prst="rect">
            <a:avLst/>
          </a:prstGeom>
          <a:noFill/>
          <a:ln/>
        </p:spPr>
        <p:txBody>
          <a:bodyPr wrap="square" lIns="254" tIns="254" rIns="254" bIns="254" rtlCol="0" anchor="t">
            <a:normAutofit/>
          </a:bodyPr>
          <a:lstStyle/>
          <a:p>
            <a:pPr marL="0" indent="0">
              <a:buNone/>
            </a:pPr>
            <a:r>
              <a:rPr lang="en-US" sz="1600" dirty="0">
                <a:solidFill>
                  <a:srgbClr val="1F2937"/>
                </a:solidFill>
              </a:rPr>
              <a:t>BOM and ECNs</a:t>
            </a:r>
            <a:endParaRPr lang="en-US" sz="1600" dirty="0"/>
          </a:p>
        </p:txBody>
      </p:sp>
      <p:sp>
        <p:nvSpPr>
          <p:cNvPr id="8" name="Shape 6"/>
          <p:cNvSpPr/>
          <p:nvPr/>
        </p:nvSpPr>
        <p:spPr>
          <a:xfrm>
            <a:off x="2834640" y="914400"/>
            <a:ext cx="2011680" cy="1005840"/>
          </a:xfrm>
          <a:prstGeom prst="roundRect">
            <a:avLst>
              <a:gd name="adj" fmla="val 7273"/>
            </a:avLst>
          </a:prstGeom>
          <a:solidFill>
            <a:srgbClr val="FEE2E2"/>
          </a:solidFill>
          <a:ln w="12700">
            <a:solidFill>
              <a:srgbClr val="F5A3A3"/>
            </a:solidFill>
            <a:prstDash val="solid"/>
          </a:ln>
        </p:spPr>
        <p:txBody>
          <a:bodyPr/>
          <a:lstStyle/>
          <a:p>
            <a:endParaRPr lang="en-US"/>
          </a:p>
        </p:txBody>
      </p:sp>
      <p:sp>
        <p:nvSpPr>
          <p:cNvPr id="9" name="Text 7"/>
          <p:cNvSpPr/>
          <p:nvPr/>
        </p:nvSpPr>
        <p:spPr>
          <a:xfrm>
            <a:off x="2944368" y="987552"/>
            <a:ext cx="1792224" cy="164592"/>
          </a:xfrm>
          <a:prstGeom prst="rect">
            <a:avLst/>
          </a:prstGeom>
          <a:noFill/>
          <a:ln/>
        </p:spPr>
        <p:txBody>
          <a:bodyPr wrap="square" lIns="0" tIns="0" rIns="0" bIns="0" rtlCol="0" anchor="ctr"/>
          <a:lstStyle/>
          <a:p>
            <a:pPr marL="0" indent="0" algn="l">
              <a:buNone/>
            </a:pPr>
            <a:r>
              <a:rPr lang="en-US" b="1" dirty="0">
                <a:solidFill>
                  <a:srgbClr val="C0392B"/>
                </a:solidFill>
              </a:rPr>
              <a:t>Legacy ERP</a:t>
            </a:r>
            <a:endParaRPr lang="en-US" dirty="0"/>
          </a:p>
        </p:txBody>
      </p:sp>
      <p:sp>
        <p:nvSpPr>
          <p:cNvPr id="10" name="Text 8"/>
          <p:cNvSpPr/>
          <p:nvPr/>
        </p:nvSpPr>
        <p:spPr>
          <a:xfrm>
            <a:off x="2944368" y="1188720"/>
            <a:ext cx="1792224" cy="676656"/>
          </a:xfrm>
          <a:prstGeom prst="rect">
            <a:avLst/>
          </a:prstGeom>
          <a:noFill/>
          <a:ln/>
        </p:spPr>
        <p:txBody>
          <a:bodyPr wrap="square" lIns="254" tIns="254" rIns="254" bIns="254" rtlCol="0" anchor="t">
            <a:normAutofit/>
          </a:bodyPr>
          <a:lstStyle/>
          <a:p>
            <a:pPr marL="0" indent="0">
              <a:buNone/>
            </a:pPr>
            <a:r>
              <a:rPr lang="en-US" sz="1600" dirty="0">
                <a:solidFill>
                  <a:srgbClr val="1F2937"/>
                </a:solidFill>
              </a:rPr>
              <a:t>Finance, MRP, procurement</a:t>
            </a:r>
            <a:endParaRPr lang="en-US" sz="1600" dirty="0"/>
          </a:p>
        </p:txBody>
      </p:sp>
      <p:sp>
        <p:nvSpPr>
          <p:cNvPr id="11" name="Shape 9"/>
          <p:cNvSpPr/>
          <p:nvPr/>
        </p:nvSpPr>
        <p:spPr>
          <a:xfrm>
            <a:off x="5486400" y="2011680"/>
            <a:ext cx="1828800" cy="914400"/>
          </a:xfrm>
          <a:prstGeom prst="roundRect">
            <a:avLst>
              <a:gd name="adj" fmla="val 8000"/>
            </a:avLst>
          </a:prstGeom>
          <a:solidFill>
            <a:srgbClr val="F5F7FA"/>
          </a:solidFill>
          <a:ln w="12700">
            <a:solidFill>
              <a:srgbClr val="CBD5E1"/>
            </a:solidFill>
            <a:prstDash val="solid"/>
          </a:ln>
        </p:spPr>
        <p:txBody>
          <a:bodyPr/>
          <a:lstStyle/>
          <a:p>
            <a:endParaRPr lang="en-US"/>
          </a:p>
        </p:txBody>
      </p:sp>
      <p:sp>
        <p:nvSpPr>
          <p:cNvPr id="12" name="Text 10"/>
          <p:cNvSpPr/>
          <p:nvPr/>
        </p:nvSpPr>
        <p:spPr>
          <a:xfrm>
            <a:off x="5596128" y="2084832"/>
            <a:ext cx="1609344" cy="164592"/>
          </a:xfrm>
          <a:prstGeom prst="rect">
            <a:avLst/>
          </a:prstGeom>
          <a:noFill/>
          <a:ln/>
        </p:spPr>
        <p:txBody>
          <a:bodyPr wrap="square" lIns="0" tIns="0" rIns="0" bIns="0" rtlCol="0" anchor="ctr"/>
          <a:lstStyle/>
          <a:p>
            <a:pPr marL="0" indent="0" algn="l">
              <a:buNone/>
            </a:pPr>
            <a:r>
              <a:rPr lang="en-US" b="1" dirty="0">
                <a:solidFill>
                  <a:srgbClr val="163A5F"/>
                </a:solidFill>
              </a:rPr>
              <a:t>CRM</a:t>
            </a:r>
            <a:endParaRPr lang="en-US" dirty="0"/>
          </a:p>
        </p:txBody>
      </p:sp>
      <p:sp>
        <p:nvSpPr>
          <p:cNvPr id="13" name="Text 11"/>
          <p:cNvSpPr/>
          <p:nvPr/>
        </p:nvSpPr>
        <p:spPr>
          <a:xfrm>
            <a:off x="5596128" y="2286000"/>
            <a:ext cx="1609344" cy="585216"/>
          </a:xfrm>
          <a:prstGeom prst="rect">
            <a:avLst/>
          </a:prstGeom>
          <a:noFill/>
          <a:ln/>
        </p:spPr>
        <p:txBody>
          <a:bodyPr wrap="square" lIns="254" tIns="254" rIns="254" bIns="254" rtlCol="0" anchor="t">
            <a:normAutofit/>
          </a:bodyPr>
          <a:lstStyle/>
          <a:p>
            <a:pPr marL="0" indent="0">
              <a:buNone/>
            </a:pPr>
            <a:r>
              <a:rPr lang="en-US" sz="1600" dirty="0">
                <a:solidFill>
                  <a:srgbClr val="1F2937"/>
                </a:solidFill>
              </a:rPr>
              <a:t>Unintegrated</a:t>
            </a:r>
            <a:endParaRPr lang="en-US" sz="1600" dirty="0"/>
          </a:p>
        </p:txBody>
      </p:sp>
      <p:sp>
        <p:nvSpPr>
          <p:cNvPr id="14" name="Shape 12"/>
          <p:cNvSpPr/>
          <p:nvPr/>
        </p:nvSpPr>
        <p:spPr>
          <a:xfrm>
            <a:off x="7863840" y="914400"/>
            <a:ext cx="1828800" cy="914400"/>
          </a:xfrm>
          <a:prstGeom prst="roundRect">
            <a:avLst>
              <a:gd name="adj" fmla="val 8000"/>
            </a:avLst>
          </a:prstGeom>
          <a:solidFill>
            <a:srgbClr val="F5F7FA"/>
          </a:solidFill>
          <a:ln w="12700">
            <a:solidFill>
              <a:srgbClr val="CBD5E1"/>
            </a:solidFill>
            <a:prstDash val="solid"/>
          </a:ln>
        </p:spPr>
        <p:txBody>
          <a:bodyPr/>
          <a:lstStyle/>
          <a:p>
            <a:endParaRPr lang="en-US" dirty="0"/>
          </a:p>
        </p:txBody>
      </p:sp>
      <p:sp>
        <p:nvSpPr>
          <p:cNvPr id="15" name="Text 13"/>
          <p:cNvSpPr/>
          <p:nvPr/>
        </p:nvSpPr>
        <p:spPr>
          <a:xfrm>
            <a:off x="7973568" y="987552"/>
            <a:ext cx="1609344" cy="164592"/>
          </a:xfrm>
          <a:prstGeom prst="rect">
            <a:avLst/>
          </a:prstGeom>
          <a:noFill/>
          <a:ln/>
        </p:spPr>
        <p:txBody>
          <a:bodyPr wrap="square" lIns="0" tIns="0" rIns="0" bIns="0" rtlCol="0" anchor="ctr"/>
          <a:lstStyle/>
          <a:p>
            <a:pPr marL="0" indent="0" algn="l">
              <a:buNone/>
            </a:pPr>
            <a:r>
              <a:rPr lang="en-US" b="1" dirty="0">
                <a:solidFill>
                  <a:srgbClr val="163A5F"/>
                </a:solidFill>
              </a:rPr>
              <a:t>HRIS / Payroll</a:t>
            </a:r>
            <a:endParaRPr lang="en-US" dirty="0"/>
          </a:p>
        </p:txBody>
      </p:sp>
      <p:sp>
        <p:nvSpPr>
          <p:cNvPr id="16" name="Text 14"/>
          <p:cNvSpPr/>
          <p:nvPr/>
        </p:nvSpPr>
        <p:spPr>
          <a:xfrm>
            <a:off x="7973568" y="1188720"/>
            <a:ext cx="1609344" cy="585216"/>
          </a:xfrm>
          <a:prstGeom prst="rect">
            <a:avLst/>
          </a:prstGeom>
          <a:noFill/>
          <a:ln/>
        </p:spPr>
        <p:txBody>
          <a:bodyPr wrap="square" lIns="254" tIns="254" rIns="254" bIns="254" rtlCol="0" anchor="t">
            <a:normAutofit/>
          </a:bodyPr>
          <a:lstStyle/>
          <a:p>
            <a:pPr marL="0" indent="0">
              <a:buNone/>
            </a:pPr>
            <a:r>
              <a:rPr lang="en-US" sz="1600" dirty="0">
                <a:solidFill>
                  <a:srgbClr val="1F2937"/>
                </a:solidFill>
              </a:rPr>
              <a:t>Siloed</a:t>
            </a:r>
            <a:endParaRPr lang="en-US" sz="1600" dirty="0"/>
          </a:p>
        </p:txBody>
      </p:sp>
      <p:sp>
        <p:nvSpPr>
          <p:cNvPr id="17" name="Shape 15"/>
          <p:cNvSpPr/>
          <p:nvPr/>
        </p:nvSpPr>
        <p:spPr>
          <a:xfrm>
            <a:off x="9875520" y="2011680"/>
            <a:ext cx="1737360" cy="914400"/>
          </a:xfrm>
          <a:prstGeom prst="roundRect">
            <a:avLst>
              <a:gd name="adj" fmla="val 8000"/>
            </a:avLst>
          </a:prstGeom>
          <a:solidFill>
            <a:srgbClr val="F5F7FA"/>
          </a:solidFill>
          <a:ln w="12700">
            <a:solidFill>
              <a:srgbClr val="CBD5E1"/>
            </a:solidFill>
            <a:prstDash val="solid"/>
          </a:ln>
        </p:spPr>
        <p:txBody>
          <a:bodyPr/>
          <a:lstStyle/>
          <a:p>
            <a:endParaRPr lang="en-US"/>
          </a:p>
        </p:txBody>
      </p:sp>
      <p:sp>
        <p:nvSpPr>
          <p:cNvPr id="18" name="Text 16"/>
          <p:cNvSpPr/>
          <p:nvPr/>
        </p:nvSpPr>
        <p:spPr>
          <a:xfrm>
            <a:off x="9985248" y="2084832"/>
            <a:ext cx="1517904" cy="164592"/>
          </a:xfrm>
          <a:prstGeom prst="rect">
            <a:avLst/>
          </a:prstGeom>
          <a:noFill/>
          <a:ln/>
        </p:spPr>
        <p:txBody>
          <a:bodyPr wrap="square" lIns="0" tIns="0" rIns="0" bIns="0" rtlCol="0" anchor="ctr"/>
          <a:lstStyle/>
          <a:p>
            <a:pPr marL="0" indent="0" algn="l">
              <a:buNone/>
            </a:pPr>
            <a:r>
              <a:rPr lang="en-US" b="1" dirty="0">
                <a:solidFill>
                  <a:srgbClr val="163A5F"/>
                </a:solidFill>
              </a:rPr>
              <a:t>Excel</a:t>
            </a:r>
            <a:endParaRPr lang="en-US" dirty="0"/>
          </a:p>
        </p:txBody>
      </p:sp>
      <p:sp>
        <p:nvSpPr>
          <p:cNvPr id="19" name="Text 17"/>
          <p:cNvSpPr/>
          <p:nvPr/>
        </p:nvSpPr>
        <p:spPr>
          <a:xfrm>
            <a:off x="9985248" y="2286000"/>
            <a:ext cx="1517904" cy="585216"/>
          </a:xfrm>
          <a:prstGeom prst="rect">
            <a:avLst/>
          </a:prstGeom>
          <a:noFill/>
          <a:ln/>
        </p:spPr>
        <p:txBody>
          <a:bodyPr wrap="square" lIns="254" tIns="254" rIns="254" bIns="254" rtlCol="0" anchor="t">
            <a:normAutofit/>
          </a:bodyPr>
          <a:lstStyle/>
          <a:p>
            <a:pPr marL="0" indent="0">
              <a:buNone/>
            </a:pPr>
            <a:r>
              <a:rPr lang="en-US" sz="1600" dirty="0">
                <a:solidFill>
                  <a:srgbClr val="1F2937"/>
                </a:solidFill>
              </a:rPr>
              <a:t>Heavy reliance</a:t>
            </a:r>
            <a:endParaRPr lang="en-US" sz="1600" dirty="0"/>
          </a:p>
        </p:txBody>
      </p:sp>
      <p:sp>
        <p:nvSpPr>
          <p:cNvPr id="20" name="Shape 18"/>
          <p:cNvSpPr/>
          <p:nvPr/>
        </p:nvSpPr>
        <p:spPr>
          <a:xfrm>
            <a:off x="2377440" y="2468880"/>
            <a:ext cx="457200" cy="0"/>
          </a:xfrm>
          <a:prstGeom prst="line">
            <a:avLst/>
          </a:prstGeom>
          <a:noFill/>
          <a:ln w="12700">
            <a:solidFill>
              <a:srgbClr val="C0392B"/>
            </a:solidFill>
            <a:prstDash val="solid"/>
            <a:tailEnd type="triangle"/>
          </a:ln>
        </p:spPr>
        <p:txBody>
          <a:bodyPr/>
          <a:lstStyle/>
          <a:p>
            <a:endParaRPr lang="en-US"/>
          </a:p>
        </p:txBody>
      </p:sp>
      <p:sp>
        <p:nvSpPr>
          <p:cNvPr id="21" name="Shape 19"/>
          <p:cNvSpPr/>
          <p:nvPr/>
        </p:nvSpPr>
        <p:spPr>
          <a:xfrm>
            <a:off x="4846320" y="1417320"/>
            <a:ext cx="640080" cy="1051560"/>
          </a:xfrm>
          <a:prstGeom prst="line">
            <a:avLst/>
          </a:prstGeom>
          <a:noFill/>
          <a:ln w="12700">
            <a:solidFill>
              <a:srgbClr val="C0392B"/>
            </a:solidFill>
            <a:prstDash val="solid"/>
            <a:tailEnd type="triangle"/>
          </a:ln>
        </p:spPr>
        <p:txBody>
          <a:bodyPr/>
          <a:lstStyle/>
          <a:p>
            <a:endParaRPr lang="en-US"/>
          </a:p>
        </p:txBody>
      </p:sp>
      <p:sp>
        <p:nvSpPr>
          <p:cNvPr id="22" name="Shape 20"/>
          <p:cNvSpPr/>
          <p:nvPr/>
        </p:nvSpPr>
        <p:spPr>
          <a:xfrm>
            <a:off x="7315200" y="2468880"/>
            <a:ext cx="548640" cy="0"/>
          </a:xfrm>
          <a:prstGeom prst="line">
            <a:avLst/>
          </a:prstGeom>
          <a:noFill/>
          <a:ln w="12700">
            <a:solidFill>
              <a:srgbClr val="C0392B"/>
            </a:solidFill>
            <a:prstDash val="solid"/>
            <a:tailEnd type="triangle"/>
          </a:ln>
        </p:spPr>
        <p:txBody>
          <a:bodyPr/>
          <a:lstStyle/>
          <a:p>
            <a:endParaRPr lang="en-US"/>
          </a:p>
        </p:txBody>
      </p:sp>
      <p:sp>
        <p:nvSpPr>
          <p:cNvPr id="23" name="Shape 21"/>
          <p:cNvSpPr/>
          <p:nvPr/>
        </p:nvSpPr>
        <p:spPr>
          <a:xfrm>
            <a:off x="9692640" y="1417320"/>
            <a:ext cx="182880" cy="1051560"/>
          </a:xfrm>
          <a:prstGeom prst="line">
            <a:avLst/>
          </a:prstGeom>
          <a:noFill/>
          <a:ln w="12700">
            <a:solidFill>
              <a:srgbClr val="C0392B"/>
            </a:solidFill>
            <a:prstDash val="solid"/>
            <a:tailEnd type="triangle"/>
          </a:ln>
        </p:spPr>
        <p:txBody>
          <a:bodyPr/>
          <a:lstStyle/>
          <a:p>
            <a:endParaRPr lang="en-US"/>
          </a:p>
        </p:txBody>
      </p:sp>
      <p:sp>
        <p:nvSpPr>
          <p:cNvPr id="24" name="Shape 22"/>
          <p:cNvSpPr/>
          <p:nvPr/>
        </p:nvSpPr>
        <p:spPr>
          <a:xfrm>
            <a:off x="731520" y="4160520"/>
            <a:ext cx="10698480" cy="1234440"/>
          </a:xfrm>
          <a:prstGeom prst="roundRect">
            <a:avLst>
              <a:gd name="adj" fmla="val 5926"/>
            </a:avLst>
          </a:prstGeom>
          <a:solidFill>
            <a:srgbClr val="FFFFFF"/>
          </a:solidFill>
          <a:ln w="12700">
            <a:solidFill>
              <a:srgbClr val="CBD5E1"/>
            </a:solidFill>
            <a:prstDash val="solid"/>
          </a:ln>
        </p:spPr>
        <p:txBody>
          <a:bodyPr/>
          <a:lstStyle/>
          <a:p>
            <a:endParaRPr lang="en-US"/>
          </a:p>
        </p:txBody>
      </p:sp>
      <p:sp>
        <p:nvSpPr>
          <p:cNvPr id="25" name="Text 23"/>
          <p:cNvSpPr/>
          <p:nvPr/>
        </p:nvSpPr>
        <p:spPr>
          <a:xfrm>
            <a:off x="841248" y="4233672"/>
            <a:ext cx="10479024" cy="164592"/>
          </a:xfrm>
          <a:prstGeom prst="rect">
            <a:avLst/>
          </a:prstGeom>
          <a:noFill/>
          <a:ln/>
        </p:spPr>
        <p:txBody>
          <a:bodyPr wrap="square" lIns="0" tIns="0" rIns="0" bIns="0" rtlCol="0" anchor="ctr"/>
          <a:lstStyle/>
          <a:p>
            <a:pPr marL="0" indent="0" algn="l">
              <a:buNone/>
            </a:pPr>
            <a:r>
              <a:rPr lang="en-US" sz="2000" b="1" dirty="0">
                <a:solidFill>
                  <a:srgbClr val="163A5F"/>
                </a:solidFill>
              </a:rPr>
              <a:t>Main failure points</a:t>
            </a:r>
            <a:endParaRPr lang="en-US" sz="2000" dirty="0"/>
          </a:p>
        </p:txBody>
      </p:sp>
      <p:sp>
        <p:nvSpPr>
          <p:cNvPr id="26" name="Text 24"/>
          <p:cNvSpPr/>
          <p:nvPr/>
        </p:nvSpPr>
        <p:spPr>
          <a:xfrm>
            <a:off x="841248" y="4434840"/>
            <a:ext cx="10479024" cy="905256"/>
          </a:xfrm>
          <a:prstGeom prst="rect">
            <a:avLst/>
          </a:prstGeom>
          <a:noFill/>
          <a:ln/>
        </p:spPr>
        <p:txBody>
          <a:bodyPr wrap="square" lIns="254" tIns="254" rIns="254" bIns="254" rtlCol="0" anchor="t">
            <a:normAutofit/>
          </a:bodyPr>
          <a:lstStyle/>
          <a:p>
            <a:pPr marL="0" indent="0">
              <a:buNone/>
            </a:pPr>
            <a:r>
              <a:rPr lang="en-US" dirty="0">
                <a:solidFill>
                  <a:srgbClr val="1F2937"/>
                </a:solidFill>
              </a:rPr>
              <a:t>Nightly fragile sync - BOM changes can arrive too late for production. Manual spreadsheets hide the true status of orders. Separate systems prevent a single trusted view of cost, labour and margin.</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163A5F"/>
          </a:solidFill>
          <a:ln w="12700">
            <a:solidFill>
              <a:srgbClr val="163A5F">
                <a:alpha val="0"/>
              </a:srgbClr>
            </a:solidFill>
            <a:prstDash val="solid"/>
          </a:ln>
        </p:spPr>
        <p:txBody>
          <a:bodyPr/>
          <a:lstStyle/>
          <a:p>
            <a:endParaRPr lang="en-US"/>
          </a:p>
        </p:txBody>
      </p:sp>
      <p:sp>
        <p:nvSpPr>
          <p:cNvPr id="3" name="Text 1"/>
          <p:cNvSpPr/>
          <p:nvPr/>
        </p:nvSpPr>
        <p:spPr>
          <a:xfrm>
            <a:off x="365760" y="109728"/>
            <a:ext cx="9875520" cy="2286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Target architecture</a:t>
            </a:r>
            <a:endParaRPr lang="en-US" sz="2200" dirty="0"/>
          </a:p>
        </p:txBody>
      </p:sp>
      <p:sp>
        <p:nvSpPr>
          <p:cNvPr id="4" name="Text 2"/>
          <p:cNvSpPr/>
          <p:nvPr/>
        </p:nvSpPr>
        <p:spPr>
          <a:xfrm>
            <a:off x="9738360" y="118872"/>
            <a:ext cx="2011680" cy="182880"/>
          </a:xfrm>
          <a:prstGeom prst="rect">
            <a:avLst/>
          </a:prstGeom>
          <a:noFill/>
          <a:ln/>
        </p:spPr>
        <p:txBody>
          <a:bodyPr wrap="square" lIns="0" tIns="0" rIns="0" bIns="0" rtlCol="0" anchor="ctr"/>
          <a:lstStyle/>
          <a:p>
            <a:pPr marL="0" indent="0" algn="r">
              <a:buNone/>
            </a:pPr>
            <a:r>
              <a:rPr lang="en-US" sz="1000" dirty="0">
                <a:solidFill>
                  <a:srgbClr val="DCE6F1"/>
                </a:solidFill>
              </a:rPr>
              <a:t>A simpler cloud ERP hub with controlled integrations</a:t>
            </a:r>
            <a:endParaRPr lang="en-US" sz="1000" dirty="0"/>
          </a:p>
        </p:txBody>
      </p:sp>
      <p:sp>
        <p:nvSpPr>
          <p:cNvPr id="5" name="Shape 3"/>
          <p:cNvSpPr/>
          <p:nvPr/>
        </p:nvSpPr>
        <p:spPr>
          <a:xfrm>
            <a:off x="4343400" y="1508760"/>
            <a:ext cx="3383280" cy="1234440"/>
          </a:xfrm>
          <a:prstGeom prst="roundRect">
            <a:avLst>
              <a:gd name="adj" fmla="val 5926"/>
            </a:avLst>
          </a:prstGeom>
          <a:solidFill>
            <a:srgbClr val="EAF4FB"/>
          </a:solidFill>
          <a:ln w="12700">
            <a:solidFill>
              <a:srgbClr val="9FBFDA"/>
            </a:solidFill>
            <a:prstDash val="solid"/>
          </a:ln>
        </p:spPr>
        <p:txBody>
          <a:bodyPr/>
          <a:lstStyle/>
          <a:p>
            <a:endParaRPr lang="en-US"/>
          </a:p>
        </p:txBody>
      </p:sp>
      <p:sp>
        <p:nvSpPr>
          <p:cNvPr id="6" name="Text 4"/>
          <p:cNvSpPr/>
          <p:nvPr/>
        </p:nvSpPr>
        <p:spPr>
          <a:xfrm>
            <a:off x="4453128" y="1581912"/>
            <a:ext cx="3163824" cy="164592"/>
          </a:xfrm>
          <a:prstGeom prst="rect">
            <a:avLst/>
          </a:prstGeom>
          <a:noFill/>
          <a:ln/>
        </p:spPr>
        <p:txBody>
          <a:bodyPr wrap="square" lIns="0" tIns="0" rIns="0" bIns="0" rtlCol="0" anchor="ctr"/>
          <a:lstStyle/>
          <a:p>
            <a:pPr marL="0" indent="0" algn="l">
              <a:buNone/>
            </a:pPr>
            <a:r>
              <a:rPr lang="en-US" sz="1600" b="1" dirty="0">
                <a:solidFill>
                  <a:srgbClr val="163A5F"/>
                </a:solidFill>
              </a:rPr>
              <a:t>Cloud ERP core</a:t>
            </a:r>
            <a:endParaRPr lang="en-US" sz="1600" dirty="0"/>
          </a:p>
        </p:txBody>
      </p:sp>
      <p:sp>
        <p:nvSpPr>
          <p:cNvPr id="7" name="Text 5"/>
          <p:cNvSpPr/>
          <p:nvPr/>
        </p:nvSpPr>
        <p:spPr>
          <a:xfrm>
            <a:off x="4453128" y="1783080"/>
            <a:ext cx="3163824" cy="905256"/>
          </a:xfrm>
          <a:prstGeom prst="rect">
            <a:avLst/>
          </a:prstGeom>
          <a:noFill/>
          <a:ln/>
        </p:spPr>
        <p:txBody>
          <a:bodyPr wrap="square" lIns="254" tIns="254" rIns="254" bIns="254" rtlCol="0" anchor="t">
            <a:normAutofit/>
          </a:bodyPr>
          <a:lstStyle/>
          <a:p>
            <a:pPr marL="0" indent="0">
              <a:buNone/>
            </a:pPr>
            <a:r>
              <a:rPr lang="en-US" sz="1500" dirty="0">
                <a:solidFill>
                  <a:srgbClr val="1F2937"/>
                </a:solidFill>
              </a:rPr>
              <a:t>Finance | Manufacturing | Procurement | Inventory | Order processing</a:t>
            </a:r>
            <a:endParaRPr lang="en-US" sz="1500" dirty="0"/>
          </a:p>
        </p:txBody>
      </p:sp>
      <p:sp>
        <p:nvSpPr>
          <p:cNvPr id="8" name="Shape 6"/>
          <p:cNvSpPr/>
          <p:nvPr/>
        </p:nvSpPr>
        <p:spPr>
          <a:xfrm>
            <a:off x="914400" y="914400"/>
            <a:ext cx="2011680" cy="868680"/>
          </a:xfrm>
          <a:prstGeom prst="roundRect">
            <a:avLst>
              <a:gd name="adj" fmla="val 8421"/>
            </a:avLst>
          </a:prstGeom>
          <a:solidFill>
            <a:srgbClr val="FDF3E7"/>
          </a:solidFill>
          <a:ln w="12700">
            <a:solidFill>
              <a:srgbClr val="E7C58E"/>
            </a:solidFill>
            <a:prstDash val="solid"/>
          </a:ln>
        </p:spPr>
        <p:txBody>
          <a:bodyPr/>
          <a:lstStyle/>
          <a:p>
            <a:endParaRPr lang="en-US"/>
          </a:p>
        </p:txBody>
      </p:sp>
      <p:sp>
        <p:nvSpPr>
          <p:cNvPr id="9" name="Text 7"/>
          <p:cNvSpPr/>
          <p:nvPr/>
        </p:nvSpPr>
        <p:spPr>
          <a:xfrm>
            <a:off x="1024128" y="987552"/>
            <a:ext cx="1792224" cy="164592"/>
          </a:xfrm>
          <a:prstGeom prst="rect">
            <a:avLst/>
          </a:prstGeom>
          <a:noFill/>
          <a:ln/>
        </p:spPr>
        <p:txBody>
          <a:bodyPr wrap="square" lIns="0" tIns="0" rIns="0" bIns="0" rtlCol="0" anchor="ctr"/>
          <a:lstStyle/>
          <a:p>
            <a:pPr marL="0" indent="0" algn="l">
              <a:buNone/>
            </a:pPr>
            <a:r>
              <a:rPr lang="en-US" sz="1600" b="1" dirty="0">
                <a:solidFill>
                  <a:srgbClr val="D97706"/>
                </a:solidFill>
              </a:rPr>
              <a:t>Engineering system</a:t>
            </a:r>
            <a:endParaRPr lang="en-US" sz="1600" dirty="0"/>
          </a:p>
        </p:txBody>
      </p:sp>
      <p:sp>
        <p:nvSpPr>
          <p:cNvPr id="10" name="Text 8"/>
          <p:cNvSpPr/>
          <p:nvPr/>
        </p:nvSpPr>
        <p:spPr>
          <a:xfrm>
            <a:off x="1024128" y="1188720"/>
            <a:ext cx="1792224" cy="539496"/>
          </a:xfrm>
          <a:prstGeom prst="rect">
            <a:avLst/>
          </a:prstGeom>
          <a:noFill/>
          <a:ln/>
        </p:spPr>
        <p:txBody>
          <a:bodyPr wrap="square" lIns="254" tIns="254" rIns="254" bIns="254" rtlCol="0" anchor="t">
            <a:normAutofit/>
          </a:bodyPr>
          <a:lstStyle/>
          <a:p>
            <a:pPr marL="0" indent="0">
              <a:buNone/>
            </a:pPr>
            <a:r>
              <a:rPr lang="en-US" sz="1500" dirty="0">
                <a:solidFill>
                  <a:srgbClr val="1F2937"/>
                </a:solidFill>
              </a:rPr>
              <a:t>BOM / ECN master</a:t>
            </a:r>
            <a:endParaRPr lang="en-US" sz="1500" dirty="0"/>
          </a:p>
        </p:txBody>
      </p:sp>
      <p:sp>
        <p:nvSpPr>
          <p:cNvPr id="11" name="Shape 9"/>
          <p:cNvSpPr/>
          <p:nvPr/>
        </p:nvSpPr>
        <p:spPr>
          <a:xfrm>
            <a:off x="9052560" y="914400"/>
            <a:ext cx="2011680" cy="868680"/>
          </a:xfrm>
          <a:prstGeom prst="roundRect">
            <a:avLst>
              <a:gd name="adj" fmla="val 8421"/>
            </a:avLst>
          </a:prstGeom>
          <a:solidFill>
            <a:srgbClr val="F5F7FA"/>
          </a:solidFill>
          <a:ln w="12700">
            <a:solidFill>
              <a:srgbClr val="CBD5E1"/>
            </a:solidFill>
            <a:prstDash val="solid"/>
          </a:ln>
        </p:spPr>
        <p:txBody>
          <a:bodyPr/>
          <a:lstStyle/>
          <a:p>
            <a:endParaRPr lang="en-US"/>
          </a:p>
        </p:txBody>
      </p:sp>
      <p:sp>
        <p:nvSpPr>
          <p:cNvPr id="12" name="Text 10"/>
          <p:cNvSpPr/>
          <p:nvPr/>
        </p:nvSpPr>
        <p:spPr>
          <a:xfrm>
            <a:off x="9162288" y="987552"/>
            <a:ext cx="1792224" cy="164592"/>
          </a:xfrm>
          <a:prstGeom prst="rect">
            <a:avLst/>
          </a:prstGeom>
          <a:noFill/>
          <a:ln/>
        </p:spPr>
        <p:txBody>
          <a:bodyPr wrap="square" lIns="0" tIns="0" rIns="0" bIns="0" rtlCol="0" anchor="ctr"/>
          <a:lstStyle/>
          <a:p>
            <a:pPr marL="0" indent="0" algn="l">
              <a:buNone/>
            </a:pPr>
            <a:r>
              <a:rPr lang="en-US" sz="1600" b="1" dirty="0">
                <a:solidFill>
                  <a:srgbClr val="163A5F"/>
                </a:solidFill>
              </a:rPr>
              <a:t>CRM</a:t>
            </a:r>
            <a:endParaRPr lang="en-US" sz="1600" dirty="0"/>
          </a:p>
        </p:txBody>
      </p:sp>
      <p:sp>
        <p:nvSpPr>
          <p:cNvPr id="13" name="Text 11"/>
          <p:cNvSpPr/>
          <p:nvPr/>
        </p:nvSpPr>
        <p:spPr>
          <a:xfrm>
            <a:off x="9162288" y="1188720"/>
            <a:ext cx="1792224" cy="539496"/>
          </a:xfrm>
          <a:prstGeom prst="rect">
            <a:avLst/>
          </a:prstGeom>
          <a:noFill/>
          <a:ln/>
        </p:spPr>
        <p:txBody>
          <a:bodyPr wrap="square" lIns="254" tIns="254" rIns="254" bIns="254" rtlCol="0" anchor="t">
            <a:normAutofit/>
          </a:bodyPr>
          <a:lstStyle/>
          <a:p>
            <a:pPr marL="0" indent="0">
              <a:buNone/>
            </a:pPr>
            <a:r>
              <a:rPr lang="en-US" sz="1500" dirty="0">
                <a:solidFill>
                  <a:srgbClr val="1F2937"/>
                </a:solidFill>
              </a:rPr>
              <a:t>Sales pipeline</a:t>
            </a:r>
            <a:endParaRPr lang="en-US" sz="1500" dirty="0"/>
          </a:p>
        </p:txBody>
      </p:sp>
      <p:sp>
        <p:nvSpPr>
          <p:cNvPr id="14" name="Shape 12"/>
          <p:cNvSpPr/>
          <p:nvPr/>
        </p:nvSpPr>
        <p:spPr>
          <a:xfrm>
            <a:off x="914400" y="2834640"/>
            <a:ext cx="2011680" cy="868680"/>
          </a:xfrm>
          <a:prstGeom prst="roundRect">
            <a:avLst>
              <a:gd name="adj" fmla="val 8421"/>
            </a:avLst>
          </a:prstGeom>
          <a:solidFill>
            <a:srgbClr val="EEF2FF"/>
          </a:solidFill>
          <a:ln w="12700">
            <a:solidFill>
              <a:srgbClr val="BCC6F0"/>
            </a:solidFill>
            <a:prstDash val="solid"/>
          </a:ln>
        </p:spPr>
        <p:txBody>
          <a:bodyPr/>
          <a:lstStyle/>
          <a:p>
            <a:endParaRPr lang="en-US"/>
          </a:p>
        </p:txBody>
      </p:sp>
      <p:sp>
        <p:nvSpPr>
          <p:cNvPr id="15" name="Text 13"/>
          <p:cNvSpPr/>
          <p:nvPr/>
        </p:nvSpPr>
        <p:spPr>
          <a:xfrm>
            <a:off x="1024128" y="2907792"/>
            <a:ext cx="1792224" cy="164592"/>
          </a:xfrm>
          <a:prstGeom prst="rect">
            <a:avLst/>
          </a:prstGeom>
          <a:noFill/>
          <a:ln/>
        </p:spPr>
        <p:txBody>
          <a:bodyPr wrap="square" lIns="0" tIns="0" rIns="0" bIns="0" rtlCol="0" anchor="ctr"/>
          <a:lstStyle/>
          <a:p>
            <a:pPr marL="0" indent="0" algn="l">
              <a:buNone/>
            </a:pPr>
            <a:r>
              <a:rPr lang="en-US" sz="1600" b="1" dirty="0">
                <a:solidFill>
                  <a:srgbClr val="4F46E5"/>
                </a:solidFill>
              </a:rPr>
              <a:t>Reporting archive</a:t>
            </a:r>
            <a:endParaRPr lang="en-US" sz="1600" dirty="0"/>
          </a:p>
        </p:txBody>
      </p:sp>
      <p:sp>
        <p:nvSpPr>
          <p:cNvPr id="16" name="Text 14"/>
          <p:cNvSpPr/>
          <p:nvPr/>
        </p:nvSpPr>
        <p:spPr>
          <a:xfrm>
            <a:off x="1024128" y="3108960"/>
            <a:ext cx="1792224" cy="539496"/>
          </a:xfrm>
          <a:prstGeom prst="rect">
            <a:avLst/>
          </a:prstGeom>
          <a:noFill/>
          <a:ln/>
        </p:spPr>
        <p:txBody>
          <a:bodyPr wrap="square" lIns="254" tIns="254" rIns="254" bIns="254" rtlCol="0" anchor="t">
            <a:normAutofit/>
          </a:bodyPr>
          <a:lstStyle/>
          <a:p>
            <a:pPr marL="0" indent="0">
              <a:buNone/>
            </a:pPr>
            <a:r>
              <a:rPr lang="en-US" sz="1500" dirty="0">
                <a:solidFill>
                  <a:srgbClr val="1F2937"/>
                </a:solidFill>
              </a:rPr>
              <a:t>History + KPIs</a:t>
            </a:r>
            <a:endParaRPr lang="en-US" sz="1500" dirty="0"/>
          </a:p>
        </p:txBody>
      </p:sp>
      <p:sp>
        <p:nvSpPr>
          <p:cNvPr id="17" name="Shape 15"/>
          <p:cNvSpPr/>
          <p:nvPr/>
        </p:nvSpPr>
        <p:spPr>
          <a:xfrm>
            <a:off x="9052560" y="2834640"/>
            <a:ext cx="2011680" cy="868680"/>
          </a:xfrm>
          <a:prstGeom prst="roundRect">
            <a:avLst>
              <a:gd name="adj" fmla="val 8421"/>
            </a:avLst>
          </a:prstGeom>
          <a:solidFill>
            <a:srgbClr val="F5F7FA"/>
          </a:solidFill>
          <a:ln w="12700">
            <a:solidFill>
              <a:srgbClr val="CBD5E1"/>
            </a:solidFill>
            <a:prstDash val="solid"/>
          </a:ln>
        </p:spPr>
        <p:txBody>
          <a:bodyPr/>
          <a:lstStyle/>
          <a:p>
            <a:endParaRPr lang="en-US"/>
          </a:p>
        </p:txBody>
      </p:sp>
      <p:sp>
        <p:nvSpPr>
          <p:cNvPr id="18" name="Text 16"/>
          <p:cNvSpPr/>
          <p:nvPr/>
        </p:nvSpPr>
        <p:spPr>
          <a:xfrm>
            <a:off x="9162288" y="2907792"/>
            <a:ext cx="1792224" cy="164592"/>
          </a:xfrm>
          <a:prstGeom prst="rect">
            <a:avLst/>
          </a:prstGeom>
          <a:noFill/>
          <a:ln/>
        </p:spPr>
        <p:txBody>
          <a:bodyPr wrap="square" lIns="0" tIns="0" rIns="0" bIns="0" rtlCol="0" anchor="ctr"/>
          <a:lstStyle/>
          <a:p>
            <a:pPr marL="0" indent="0" algn="l">
              <a:buNone/>
            </a:pPr>
            <a:r>
              <a:rPr lang="en-US" sz="1600" b="1" dirty="0">
                <a:solidFill>
                  <a:srgbClr val="163A5F"/>
                </a:solidFill>
              </a:rPr>
              <a:t>HRIS</a:t>
            </a:r>
            <a:endParaRPr lang="en-US" sz="1600" dirty="0"/>
          </a:p>
        </p:txBody>
      </p:sp>
      <p:sp>
        <p:nvSpPr>
          <p:cNvPr id="19" name="Text 17"/>
          <p:cNvSpPr/>
          <p:nvPr/>
        </p:nvSpPr>
        <p:spPr>
          <a:xfrm>
            <a:off x="9162288" y="3108960"/>
            <a:ext cx="1792224" cy="539496"/>
          </a:xfrm>
          <a:prstGeom prst="rect">
            <a:avLst/>
          </a:prstGeom>
          <a:noFill/>
          <a:ln/>
        </p:spPr>
        <p:txBody>
          <a:bodyPr wrap="square" lIns="254" tIns="254" rIns="254" bIns="254" rtlCol="0" anchor="t">
            <a:normAutofit/>
          </a:bodyPr>
          <a:lstStyle/>
          <a:p>
            <a:pPr marL="0" indent="0">
              <a:buNone/>
            </a:pPr>
            <a:r>
              <a:rPr lang="en-US" sz="1500" dirty="0">
                <a:solidFill>
                  <a:srgbClr val="1F2937"/>
                </a:solidFill>
              </a:rPr>
              <a:t>People data</a:t>
            </a:r>
            <a:endParaRPr lang="en-US" sz="1500" dirty="0"/>
          </a:p>
        </p:txBody>
      </p:sp>
      <p:sp>
        <p:nvSpPr>
          <p:cNvPr id="20" name="Shape 18"/>
          <p:cNvSpPr/>
          <p:nvPr/>
        </p:nvSpPr>
        <p:spPr>
          <a:xfrm>
            <a:off x="4343400" y="3072384"/>
            <a:ext cx="3383280" cy="1133856"/>
          </a:xfrm>
          <a:prstGeom prst="roundRect">
            <a:avLst>
              <a:gd name="adj" fmla="val 8421"/>
            </a:avLst>
          </a:prstGeom>
          <a:solidFill>
            <a:srgbClr val="ECFDF5"/>
          </a:solidFill>
          <a:ln w="12700">
            <a:solidFill>
              <a:srgbClr val="A7D8C3"/>
            </a:solidFill>
            <a:prstDash val="solid"/>
          </a:ln>
        </p:spPr>
        <p:txBody>
          <a:bodyPr/>
          <a:lstStyle/>
          <a:p>
            <a:endParaRPr lang="en-US"/>
          </a:p>
        </p:txBody>
      </p:sp>
      <p:sp>
        <p:nvSpPr>
          <p:cNvPr id="21" name="Text 19"/>
          <p:cNvSpPr/>
          <p:nvPr/>
        </p:nvSpPr>
        <p:spPr>
          <a:xfrm>
            <a:off x="4453128" y="3108960"/>
            <a:ext cx="3163824" cy="320040"/>
          </a:xfrm>
          <a:prstGeom prst="rect">
            <a:avLst/>
          </a:prstGeom>
          <a:noFill/>
          <a:ln/>
        </p:spPr>
        <p:txBody>
          <a:bodyPr wrap="square" lIns="0" tIns="0" rIns="0" bIns="0" rtlCol="0" anchor="ctr"/>
          <a:lstStyle/>
          <a:p>
            <a:pPr marL="0" indent="0" algn="l">
              <a:buNone/>
            </a:pPr>
            <a:r>
              <a:rPr lang="en-US" sz="1600" b="1" dirty="0">
                <a:solidFill>
                  <a:srgbClr val="2E7D32"/>
                </a:solidFill>
              </a:rPr>
              <a:t>Data governance</a:t>
            </a:r>
            <a:endParaRPr lang="en-US" sz="1600" dirty="0"/>
          </a:p>
        </p:txBody>
      </p:sp>
      <p:sp>
        <p:nvSpPr>
          <p:cNvPr id="22" name="Text 20"/>
          <p:cNvSpPr/>
          <p:nvPr/>
        </p:nvSpPr>
        <p:spPr>
          <a:xfrm>
            <a:off x="4453128" y="3429000"/>
            <a:ext cx="3163824" cy="722376"/>
          </a:xfrm>
          <a:prstGeom prst="rect">
            <a:avLst/>
          </a:prstGeom>
          <a:noFill/>
          <a:ln/>
        </p:spPr>
        <p:txBody>
          <a:bodyPr wrap="square" lIns="254" tIns="254" rIns="254" bIns="254" rtlCol="0" anchor="t">
            <a:normAutofit/>
          </a:bodyPr>
          <a:lstStyle/>
          <a:p>
            <a:pPr marL="0" indent="0">
              <a:buNone/>
            </a:pPr>
            <a:r>
              <a:rPr lang="en-US" sz="1500" dirty="0">
                <a:solidFill>
                  <a:srgbClr val="1F2937"/>
                </a:solidFill>
              </a:rPr>
              <a:t>Owners | rules | approvals | quality checks</a:t>
            </a:r>
            <a:endParaRPr lang="en-US" sz="1500" dirty="0"/>
          </a:p>
        </p:txBody>
      </p:sp>
      <p:sp>
        <p:nvSpPr>
          <p:cNvPr id="23" name="Shape 21"/>
          <p:cNvSpPr/>
          <p:nvPr/>
        </p:nvSpPr>
        <p:spPr>
          <a:xfrm>
            <a:off x="2926080" y="1353312"/>
            <a:ext cx="1417320" cy="475488"/>
          </a:xfrm>
          <a:prstGeom prst="line">
            <a:avLst/>
          </a:prstGeom>
          <a:noFill/>
          <a:ln w="12700">
            <a:solidFill>
              <a:srgbClr val="2A7F8E"/>
            </a:solidFill>
            <a:prstDash val="solid"/>
            <a:tailEnd type="triangle"/>
          </a:ln>
        </p:spPr>
        <p:txBody>
          <a:bodyPr/>
          <a:lstStyle/>
          <a:p>
            <a:endParaRPr lang="en-US"/>
          </a:p>
        </p:txBody>
      </p:sp>
      <p:sp>
        <p:nvSpPr>
          <p:cNvPr id="24" name="Shape 22"/>
          <p:cNvSpPr/>
          <p:nvPr/>
        </p:nvSpPr>
        <p:spPr>
          <a:xfrm>
            <a:off x="9052560" y="1353312"/>
            <a:ext cx="0" cy="475488"/>
          </a:xfrm>
          <a:prstGeom prst="line">
            <a:avLst/>
          </a:prstGeom>
          <a:noFill/>
          <a:ln w="12700">
            <a:solidFill>
              <a:srgbClr val="2A7F8E"/>
            </a:solidFill>
            <a:prstDash val="solid"/>
            <a:tailEnd type="triangle"/>
          </a:ln>
        </p:spPr>
        <p:txBody>
          <a:bodyPr/>
          <a:lstStyle/>
          <a:p>
            <a:endParaRPr lang="en-US"/>
          </a:p>
        </p:txBody>
      </p:sp>
      <p:sp>
        <p:nvSpPr>
          <p:cNvPr id="25" name="Shape 23"/>
          <p:cNvSpPr/>
          <p:nvPr/>
        </p:nvSpPr>
        <p:spPr>
          <a:xfrm>
            <a:off x="2926080" y="3246120"/>
            <a:ext cx="1417320" cy="0"/>
          </a:xfrm>
          <a:prstGeom prst="line">
            <a:avLst/>
          </a:prstGeom>
          <a:noFill/>
          <a:ln w="12700">
            <a:solidFill>
              <a:srgbClr val="2A7F8E"/>
            </a:solidFill>
            <a:prstDash val="solid"/>
            <a:tailEnd type="triangle"/>
          </a:ln>
        </p:spPr>
        <p:txBody>
          <a:bodyPr/>
          <a:lstStyle/>
          <a:p>
            <a:endParaRPr lang="en-US"/>
          </a:p>
        </p:txBody>
      </p:sp>
      <p:sp>
        <p:nvSpPr>
          <p:cNvPr id="26" name="Shape 24"/>
          <p:cNvSpPr/>
          <p:nvPr/>
        </p:nvSpPr>
        <p:spPr>
          <a:xfrm>
            <a:off x="9052560" y="3246120"/>
            <a:ext cx="0" cy="0"/>
          </a:xfrm>
          <a:prstGeom prst="line">
            <a:avLst/>
          </a:prstGeom>
          <a:noFill/>
          <a:ln w="12700">
            <a:solidFill>
              <a:srgbClr val="2A7F8E"/>
            </a:solidFill>
            <a:prstDash val="solid"/>
            <a:tailEnd type="triangle"/>
          </a:ln>
        </p:spPr>
        <p:txBody>
          <a:bodyPr/>
          <a:lstStyle/>
          <a:p>
            <a:endParaRPr lang="en-US"/>
          </a:p>
        </p:txBody>
      </p:sp>
      <p:sp>
        <p:nvSpPr>
          <p:cNvPr id="27" name="Shape 25"/>
          <p:cNvSpPr/>
          <p:nvPr/>
        </p:nvSpPr>
        <p:spPr>
          <a:xfrm>
            <a:off x="6035040" y="2739683"/>
            <a:ext cx="0" cy="369277"/>
          </a:xfrm>
          <a:prstGeom prst="line">
            <a:avLst/>
          </a:prstGeom>
          <a:noFill/>
          <a:ln w="12700">
            <a:solidFill>
              <a:srgbClr val="2A7F8E"/>
            </a:solidFill>
            <a:prstDash val="solid"/>
            <a:tailEnd type="triangle"/>
          </a:ln>
        </p:spPr>
        <p:txBody>
          <a:bodyPr/>
          <a:lstStyle/>
          <a:p>
            <a:endParaRPr lang="en-US"/>
          </a:p>
        </p:txBody>
      </p:sp>
      <p:sp>
        <p:nvSpPr>
          <p:cNvPr id="28" name="Shape 26"/>
          <p:cNvSpPr/>
          <p:nvPr/>
        </p:nvSpPr>
        <p:spPr>
          <a:xfrm>
            <a:off x="685800" y="4663440"/>
            <a:ext cx="10881360" cy="914400"/>
          </a:xfrm>
          <a:prstGeom prst="roundRect">
            <a:avLst>
              <a:gd name="adj" fmla="val 8000"/>
            </a:avLst>
          </a:prstGeom>
          <a:solidFill>
            <a:srgbClr val="FFFFFF"/>
          </a:solidFill>
          <a:ln w="12700">
            <a:solidFill>
              <a:srgbClr val="CBD5E1"/>
            </a:solidFill>
            <a:prstDash val="solid"/>
          </a:ln>
        </p:spPr>
        <p:txBody>
          <a:bodyPr/>
          <a:lstStyle/>
          <a:p>
            <a:endParaRPr lang="en-US"/>
          </a:p>
        </p:txBody>
      </p:sp>
      <p:sp>
        <p:nvSpPr>
          <p:cNvPr id="29" name="Text 27"/>
          <p:cNvSpPr/>
          <p:nvPr/>
        </p:nvSpPr>
        <p:spPr>
          <a:xfrm>
            <a:off x="795528" y="4736592"/>
            <a:ext cx="10661904" cy="164592"/>
          </a:xfrm>
          <a:prstGeom prst="rect">
            <a:avLst/>
          </a:prstGeom>
          <a:noFill/>
          <a:ln/>
        </p:spPr>
        <p:txBody>
          <a:bodyPr wrap="square" lIns="0" tIns="0" rIns="0" bIns="0" rtlCol="0" anchor="ctr"/>
          <a:lstStyle/>
          <a:p>
            <a:pPr marL="0" indent="0" algn="l">
              <a:buNone/>
            </a:pPr>
            <a:r>
              <a:rPr lang="en-US" sz="2000" b="1" dirty="0">
                <a:solidFill>
                  <a:srgbClr val="163A5F"/>
                </a:solidFill>
              </a:rPr>
              <a:t>Design intent</a:t>
            </a:r>
            <a:endParaRPr lang="en-US" sz="2000" dirty="0"/>
          </a:p>
        </p:txBody>
      </p:sp>
      <p:sp>
        <p:nvSpPr>
          <p:cNvPr id="30" name="Text 28"/>
          <p:cNvSpPr/>
          <p:nvPr/>
        </p:nvSpPr>
        <p:spPr>
          <a:xfrm>
            <a:off x="795528" y="4937760"/>
            <a:ext cx="10661904" cy="585216"/>
          </a:xfrm>
          <a:prstGeom prst="rect">
            <a:avLst/>
          </a:prstGeom>
          <a:noFill/>
          <a:ln/>
        </p:spPr>
        <p:txBody>
          <a:bodyPr wrap="square" lIns="254" tIns="254" rIns="254" bIns="254" rtlCol="0" anchor="t">
            <a:normAutofit/>
          </a:bodyPr>
          <a:lstStyle/>
          <a:p>
            <a:pPr marL="0" indent="0">
              <a:buNone/>
            </a:pPr>
            <a:r>
              <a:rPr lang="en-US" dirty="0">
                <a:solidFill>
                  <a:srgbClr val="1F2937"/>
                </a:solidFill>
              </a:rPr>
              <a:t>The new ERP becomes the system of record for operations and finance, while other applications connect through governed interfaces. Historical reporting moves to an archive so the ERP stays fast and manageable.</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163A5F"/>
          </a:solidFill>
          <a:ln w="12700">
            <a:solidFill>
              <a:srgbClr val="163A5F">
                <a:alpha val="0"/>
              </a:srgbClr>
            </a:solidFill>
            <a:prstDash val="solid"/>
          </a:ln>
        </p:spPr>
        <p:txBody>
          <a:bodyPr/>
          <a:lstStyle/>
          <a:p>
            <a:endParaRPr lang="en-US"/>
          </a:p>
        </p:txBody>
      </p:sp>
      <p:sp>
        <p:nvSpPr>
          <p:cNvPr id="3" name="Text 1"/>
          <p:cNvSpPr/>
          <p:nvPr/>
        </p:nvSpPr>
        <p:spPr>
          <a:xfrm>
            <a:off x="365760" y="109728"/>
            <a:ext cx="9875520" cy="2286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Day-1 must-haves</a:t>
            </a:r>
            <a:endParaRPr lang="en-US" sz="2200" dirty="0"/>
          </a:p>
        </p:txBody>
      </p:sp>
      <p:sp>
        <p:nvSpPr>
          <p:cNvPr id="4" name="Text 2"/>
          <p:cNvSpPr/>
          <p:nvPr/>
        </p:nvSpPr>
        <p:spPr>
          <a:xfrm>
            <a:off x="9738360" y="118872"/>
            <a:ext cx="2011680" cy="182880"/>
          </a:xfrm>
          <a:prstGeom prst="rect">
            <a:avLst/>
          </a:prstGeom>
          <a:noFill/>
          <a:ln/>
        </p:spPr>
        <p:txBody>
          <a:bodyPr wrap="square" lIns="0" tIns="0" rIns="0" bIns="0" rtlCol="0" anchor="ctr"/>
          <a:lstStyle/>
          <a:p>
            <a:pPr marL="0" indent="0" algn="r">
              <a:buNone/>
            </a:pPr>
            <a:r>
              <a:rPr lang="en-US" sz="1000" dirty="0">
                <a:solidFill>
                  <a:srgbClr val="DCE6F1"/>
                </a:solidFill>
              </a:rPr>
              <a:t>What must work on the first go-live</a:t>
            </a:r>
            <a:endParaRPr lang="en-US" sz="1000" dirty="0"/>
          </a:p>
        </p:txBody>
      </p:sp>
      <p:sp>
        <p:nvSpPr>
          <p:cNvPr id="5" name="Shape 3"/>
          <p:cNvSpPr/>
          <p:nvPr/>
        </p:nvSpPr>
        <p:spPr>
          <a:xfrm>
            <a:off x="548640" y="914400"/>
            <a:ext cx="2743200" cy="4480560"/>
          </a:xfrm>
          <a:prstGeom prst="roundRect">
            <a:avLst>
              <a:gd name="adj" fmla="val 2667"/>
            </a:avLst>
          </a:prstGeom>
          <a:solidFill>
            <a:srgbClr val="F8FAFC"/>
          </a:solidFill>
          <a:ln w="12700">
            <a:solidFill>
              <a:srgbClr val="CBD5E1"/>
            </a:solidFill>
            <a:prstDash val="solid"/>
          </a:ln>
        </p:spPr>
        <p:txBody>
          <a:bodyPr/>
          <a:lstStyle/>
          <a:p>
            <a:endParaRPr lang="en-US"/>
          </a:p>
        </p:txBody>
      </p:sp>
      <p:sp>
        <p:nvSpPr>
          <p:cNvPr id="6" name="Text 4"/>
          <p:cNvSpPr/>
          <p:nvPr/>
        </p:nvSpPr>
        <p:spPr>
          <a:xfrm>
            <a:off x="658368" y="987552"/>
            <a:ext cx="2523744" cy="164592"/>
          </a:xfrm>
          <a:prstGeom prst="rect">
            <a:avLst/>
          </a:prstGeom>
          <a:noFill/>
          <a:ln/>
        </p:spPr>
        <p:txBody>
          <a:bodyPr wrap="square" lIns="0" tIns="0" rIns="0" bIns="0" rtlCol="0" anchor="ctr"/>
          <a:lstStyle/>
          <a:p>
            <a:pPr marL="0" indent="0" algn="l">
              <a:buNone/>
            </a:pPr>
            <a:r>
              <a:rPr lang="en-US" sz="2000" b="1" dirty="0">
                <a:solidFill>
                  <a:srgbClr val="163A5F"/>
                </a:solidFill>
              </a:rPr>
              <a:t>Finance</a:t>
            </a:r>
            <a:endParaRPr lang="en-US" sz="2000" dirty="0"/>
          </a:p>
        </p:txBody>
      </p:sp>
      <p:sp>
        <p:nvSpPr>
          <p:cNvPr id="7" name="Text 5"/>
          <p:cNvSpPr/>
          <p:nvPr/>
        </p:nvSpPr>
        <p:spPr>
          <a:xfrm>
            <a:off x="658368" y="1188720"/>
            <a:ext cx="2523744" cy="4151376"/>
          </a:xfrm>
          <a:prstGeom prst="rect">
            <a:avLst/>
          </a:prstGeom>
          <a:noFill/>
          <a:ln/>
        </p:spPr>
        <p:txBody>
          <a:bodyPr wrap="square" lIns="254" tIns="254" rIns="254" bIns="254" rtlCol="0" anchor="t">
            <a:normAutofit/>
          </a:bodyPr>
          <a:lstStyle/>
          <a:p>
            <a:pPr marL="0" indent="0">
              <a:buNone/>
            </a:pPr>
            <a:r>
              <a:rPr lang="en-US" dirty="0">
                <a:solidFill>
                  <a:srgbClr val="1F2937"/>
                </a:solidFill>
              </a:rPr>
              <a:t>• General ledger</a:t>
            </a:r>
            <a:endParaRPr lang="en-US" dirty="0"/>
          </a:p>
          <a:p>
            <a:pPr marL="0" indent="0">
              <a:buNone/>
            </a:pPr>
            <a:r>
              <a:rPr lang="en-US" dirty="0">
                <a:solidFill>
                  <a:srgbClr val="1F2937"/>
                </a:solidFill>
              </a:rPr>
              <a:t>• Accounts payable and receivable</a:t>
            </a:r>
            <a:endParaRPr lang="en-US" dirty="0"/>
          </a:p>
          <a:p>
            <a:pPr marL="0" indent="0">
              <a:buNone/>
            </a:pPr>
            <a:r>
              <a:rPr lang="en-US" dirty="0">
                <a:solidFill>
                  <a:srgbClr val="1F2937"/>
                </a:solidFill>
              </a:rPr>
              <a:t>• Fixed assets</a:t>
            </a:r>
            <a:endParaRPr lang="en-US" dirty="0"/>
          </a:p>
          <a:p>
            <a:pPr marL="0" indent="0">
              <a:buNone/>
            </a:pPr>
            <a:r>
              <a:rPr lang="en-US" dirty="0">
                <a:solidFill>
                  <a:srgbClr val="1F2937"/>
                </a:solidFill>
              </a:rPr>
              <a:t>• Month-end close</a:t>
            </a:r>
            <a:endParaRPr lang="en-US" dirty="0"/>
          </a:p>
          <a:p>
            <a:pPr marL="0" indent="0">
              <a:buNone/>
            </a:pPr>
            <a:r>
              <a:rPr lang="en-US" dirty="0">
                <a:solidFill>
                  <a:srgbClr val="1F2937"/>
                </a:solidFill>
              </a:rPr>
              <a:t>• Core controls and approvals</a:t>
            </a:r>
            <a:endParaRPr lang="en-US" dirty="0"/>
          </a:p>
        </p:txBody>
      </p:sp>
      <p:sp>
        <p:nvSpPr>
          <p:cNvPr id="8" name="Shape 6"/>
          <p:cNvSpPr/>
          <p:nvPr/>
        </p:nvSpPr>
        <p:spPr>
          <a:xfrm>
            <a:off x="3474720" y="914400"/>
            <a:ext cx="2743200" cy="4480560"/>
          </a:xfrm>
          <a:prstGeom prst="roundRect">
            <a:avLst>
              <a:gd name="adj" fmla="val 2667"/>
            </a:avLst>
          </a:prstGeom>
          <a:solidFill>
            <a:srgbClr val="F8FAFC"/>
          </a:solidFill>
          <a:ln w="12700">
            <a:solidFill>
              <a:srgbClr val="CBD5E1"/>
            </a:solidFill>
            <a:prstDash val="solid"/>
          </a:ln>
        </p:spPr>
        <p:txBody>
          <a:bodyPr/>
          <a:lstStyle/>
          <a:p>
            <a:endParaRPr lang="en-US"/>
          </a:p>
        </p:txBody>
      </p:sp>
      <p:sp>
        <p:nvSpPr>
          <p:cNvPr id="9" name="Text 7"/>
          <p:cNvSpPr/>
          <p:nvPr/>
        </p:nvSpPr>
        <p:spPr>
          <a:xfrm>
            <a:off x="3584448" y="987552"/>
            <a:ext cx="2523744" cy="164592"/>
          </a:xfrm>
          <a:prstGeom prst="rect">
            <a:avLst/>
          </a:prstGeom>
          <a:noFill/>
          <a:ln/>
        </p:spPr>
        <p:txBody>
          <a:bodyPr wrap="square" lIns="0" tIns="0" rIns="0" bIns="0" rtlCol="0" anchor="ctr"/>
          <a:lstStyle/>
          <a:p>
            <a:pPr marL="0" indent="0" algn="l">
              <a:buNone/>
            </a:pPr>
            <a:r>
              <a:rPr lang="en-US" sz="2000" b="1" dirty="0">
                <a:solidFill>
                  <a:srgbClr val="163A5F"/>
                </a:solidFill>
              </a:rPr>
              <a:t>Operations</a:t>
            </a:r>
            <a:endParaRPr lang="en-US" sz="2000" dirty="0"/>
          </a:p>
        </p:txBody>
      </p:sp>
      <p:sp>
        <p:nvSpPr>
          <p:cNvPr id="10" name="Text 8"/>
          <p:cNvSpPr/>
          <p:nvPr/>
        </p:nvSpPr>
        <p:spPr>
          <a:xfrm>
            <a:off x="3584448" y="1188720"/>
            <a:ext cx="2523744" cy="4151376"/>
          </a:xfrm>
          <a:prstGeom prst="rect">
            <a:avLst/>
          </a:prstGeom>
          <a:noFill/>
          <a:ln/>
        </p:spPr>
        <p:txBody>
          <a:bodyPr wrap="square" lIns="254" tIns="254" rIns="254" bIns="254" rtlCol="0" anchor="t">
            <a:normAutofit/>
          </a:bodyPr>
          <a:lstStyle/>
          <a:p>
            <a:pPr marL="0" indent="0">
              <a:buNone/>
            </a:pPr>
            <a:r>
              <a:rPr lang="en-US" dirty="0">
                <a:solidFill>
                  <a:srgbClr val="1F2937"/>
                </a:solidFill>
              </a:rPr>
              <a:t>• Inventory</a:t>
            </a:r>
            <a:endParaRPr lang="en-US" dirty="0"/>
          </a:p>
          <a:p>
            <a:pPr marL="0" indent="0">
              <a:buNone/>
            </a:pPr>
            <a:r>
              <a:rPr lang="en-US" dirty="0">
                <a:solidFill>
                  <a:srgbClr val="1F2937"/>
                </a:solidFill>
              </a:rPr>
              <a:t>• Purchasing</a:t>
            </a:r>
            <a:endParaRPr lang="en-US" dirty="0"/>
          </a:p>
          <a:p>
            <a:pPr marL="0" indent="0">
              <a:buNone/>
            </a:pPr>
            <a:r>
              <a:rPr lang="en-US" dirty="0">
                <a:solidFill>
                  <a:srgbClr val="1F2937"/>
                </a:solidFill>
              </a:rPr>
              <a:t>• Production planning</a:t>
            </a:r>
            <a:endParaRPr lang="en-US" dirty="0"/>
          </a:p>
          <a:p>
            <a:pPr marL="0" indent="0">
              <a:buNone/>
            </a:pPr>
            <a:r>
              <a:rPr lang="en-US" dirty="0">
                <a:solidFill>
                  <a:srgbClr val="1F2937"/>
                </a:solidFill>
              </a:rPr>
              <a:t>• BOM and ECN handoff</a:t>
            </a:r>
            <a:endParaRPr lang="en-US" dirty="0"/>
          </a:p>
          <a:p>
            <a:pPr marL="0" indent="0">
              <a:buNone/>
            </a:pPr>
            <a:r>
              <a:rPr lang="en-US" dirty="0">
                <a:solidFill>
                  <a:srgbClr val="1F2937"/>
                </a:solidFill>
              </a:rPr>
              <a:t>• Basic labour capture</a:t>
            </a:r>
            <a:endParaRPr lang="en-US" dirty="0"/>
          </a:p>
        </p:txBody>
      </p:sp>
      <p:sp>
        <p:nvSpPr>
          <p:cNvPr id="11" name="Shape 9"/>
          <p:cNvSpPr/>
          <p:nvPr/>
        </p:nvSpPr>
        <p:spPr>
          <a:xfrm>
            <a:off x="6400800" y="914400"/>
            <a:ext cx="2743200" cy="4480560"/>
          </a:xfrm>
          <a:prstGeom prst="roundRect">
            <a:avLst>
              <a:gd name="adj" fmla="val 2667"/>
            </a:avLst>
          </a:prstGeom>
          <a:solidFill>
            <a:srgbClr val="F8FAFC"/>
          </a:solidFill>
          <a:ln w="12700">
            <a:solidFill>
              <a:srgbClr val="CBD5E1"/>
            </a:solidFill>
            <a:prstDash val="solid"/>
          </a:ln>
        </p:spPr>
        <p:txBody>
          <a:bodyPr/>
          <a:lstStyle/>
          <a:p>
            <a:endParaRPr lang="en-US"/>
          </a:p>
        </p:txBody>
      </p:sp>
      <p:sp>
        <p:nvSpPr>
          <p:cNvPr id="12" name="Text 10"/>
          <p:cNvSpPr/>
          <p:nvPr/>
        </p:nvSpPr>
        <p:spPr>
          <a:xfrm>
            <a:off x="6510528" y="987552"/>
            <a:ext cx="2523744" cy="164592"/>
          </a:xfrm>
          <a:prstGeom prst="rect">
            <a:avLst/>
          </a:prstGeom>
          <a:noFill/>
          <a:ln/>
        </p:spPr>
        <p:txBody>
          <a:bodyPr wrap="square" lIns="0" tIns="0" rIns="0" bIns="0" rtlCol="0" anchor="ctr"/>
          <a:lstStyle/>
          <a:p>
            <a:pPr marL="0" indent="0" algn="l">
              <a:buNone/>
            </a:pPr>
            <a:r>
              <a:rPr lang="en-US" sz="2000" b="1" dirty="0">
                <a:solidFill>
                  <a:srgbClr val="163A5F"/>
                </a:solidFill>
              </a:rPr>
              <a:t>Commercial flow</a:t>
            </a:r>
            <a:endParaRPr lang="en-US" sz="2000" dirty="0"/>
          </a:p>
        </p:txBody>
      </p:sp>
      <p:sp>
        <p:nvSpPr>
          <p:cNvPr id="13" name="Text 11"/>
          <p:cNvSpPr/>
          <p:nvPr/>
        </p:nvSpPr>
        <p:spPr>
          <a:xfrm>
            <a:off x="6510528" y="1188720"/>
            <a:ext cx="2523744" cy="4151376"/>
          </a:xfrm>
          <a:prstGeom prst="rect">
            <a:avLst/>
          </a:prstGeom>
          <a:noFill/>
          <a:ln/>
        </p:spPr>
        <p:txBody>
          <a:bodyPr wrap="square" lIns="254" tIns="254" rIns="254" bIns="254" rtlCol="0" anchor="t">
            <a:normAutofit/>
          </a:bodyPr>
          <a:lstStyle/>
          <a:p>
            <a:pPr marL="0" indent="0">
              <a:buNone/>
            </a:pPr>
            <a:r>
              <a:rPr lang="en-US" dirty="0">
                <a:solidFill>
                  <a:srgbClr val="1F2937"/>
                </a:solidFill>
              </a:rPr>
              <a:t>• Order entry integration</a:t>
            </a:r>
            <a:endParaRPr lang="en-US" dirty="0"/>
          </a:p>
          <a:p>
            <a:pPr marL="0" indent="0">
              <a:buNone/>
            </a:pPr>
            <a:r>
              <a:rPr lang="en-US" dirty="0">
                <a:solidFill>
                  <a:srgbClr val="1F2937"/>
                </a:solidFill>
              </a:rPr>
              <a:t>• Customer and supplier master data</a:t>
            </a:r>
            <a:endParaRPr lang="en-US" dirty="0"/>
          </a:p>
          <a:p>
            <a:pPr marL="0" indent="0">
              <a:buNone/>
            </a:pPr>
            <a:r>
              <a:rPr lang="en-US" dirty="0">
                <a:solidFill>
                  <a:srgbClr val="1F2937"/>
                </a:solidFill>
              </a:rPr>
              <a:t>• Shipment and invoicing flow</a:t>
            </a:r>
            <a:endParaRPr lang="en-US" dirty="0"/>
          </a:p>
          <a:p>
            <a:pPr marL="0" indent="0">
              <a:buNone/>
            </a:pPr>
            <a:r>
              <a:rPr lang="en-US" dirty="0">
                <a:solidFill>
                  <a:srgbClr val="1F2937"/>
                </a:solidFill>
              </a:rPr>
              <a:t>• Essential customer service visibility</a:t>
            </a:r>
            <a:endParaRPr lang="en-US" dirty="0"/>
          </a:p>
        </p:txBody>
      </p:sp>
      <p:sp>
        <p:nvSpPr>
          <p:cNvPr id="14" name="Shape 12"/>
          <p:cNvSpPr/>
          <p:nvPr/>
        </p:nvSpPr>
        <p:spPr>
          <a:xfrm>
            <a:off x="9326880" y="914400"/>
            <a:ext cx="2286000" cy="4480560"/>
          </a:xfrm>
          <a:prstGeom prst="roundRect">
            <a:avLst>
              <a:gd name="adj" fmla="val 3200"/>
            </a:avLst>
          </a:prstGeom>
          <a:solidFill>
            <a:srgbClr val="F8FAFC"/>
          </a:solidFill>
          <a:ln w="12700">
            <a:solidFill>
              <a:srgbClr val="CBD5E1"/>
            </a:solidFill>
            <a:prstDash val="solid"/>
          </a:ln>
        </p:spPr>
        <p:txBody>
          <a:bodyPr/>
          <a:lstStyle/>
          <a:p>
            <a:endParaRPr lang="en-US"/>
          </a:p>
        </p:txBody>
      </p:sp>
      <p:sp>
        <p:nvSpPr>
          <p:cNvPr id="15" name="Text 13"/>
          <p:cNvSpPr/>
          <p:nvPr/>
        </p:nvSpPr>
        <p:spPr>
          <a:xfrm>
            <a:off x="9436608" y="987552"/>
            <a:ext cx="2066544" cy="164592"/>
          </a:xfrm>
          <a:prstGeom prst="rect">
            <a:avLst/>
          </a:prstGeom>
          <a:noFill/>
          <a:ln/>
        </p:spPr>
        <p:txBody>
          <a:bodyPr wrap="square" lIns="0" tIns="0" rIns="0" bIns="0" rtlCol="0" anchor="ctr"/>
          <a:lstStyle/>
          <a:p>
            <a:pPr marL="0" indent="0" algn="l">
              <a:buNone/>
            </a:pPr>
            <a:r>
              <a:rPr lang="en-US" sz="2000" b="1" dirty="0">
                <a:solidFill>
                  <a:srgbClr val="163A5F"/>
                </a:solidFill>
              </a:rPr>
              <a:t>Control tower</a:t>
            </a:r>
            <a:endParaRPr lang="en-US" sz="2000" dirty="0"/>
          </a:p>
        </p:txBody>
      </p:sp>
      <p:sp>
        <p:nvSpPr>
          <p:cNvPr id="16" name="Text 14"/>
          <p:cNvSpPr/>
          <p:nvPr/>
        </p:nvSpPr>
        <p:spPr>
          <a:xfrm>
            <a:off x="9436608" y="1188720"/>
            <a:ext cx="2066544" cy="4151376"/>
          </a:xfrm>
          <a:prstGeom prst="rect">
            <a:avLst/>
          </a:prstGeom>
          <a:noFill/>
          <a:ln/>
        </p:spPr>
        <p:txBody>
          <a:bodyPr wrap="square" lIns="254" tIns="254" rIns="254" bIns="254" rtlCol="0" anchor="t">
            <a:normAutofit/>
          </a:bodyPr>
          <a:lstStyle/>
          <a:p>
            <a:pPr marL="0" indent="0">
              <a:buNone/>
            </a:pPr>
            <a:r>
              <a:rPr lang="en-US" dirty="0">
                <a:solidFill>
                  <a:srgbClr val="1F2937"/>
                </a:solidFill>
              </a:rPr>
              <a:t>• Core reports</a:t>
            </a:r>
            <a:endParaRPr lang="en-US" dirty="0"/>
          </a:p>
          <a:p>
            <a:pPr marL="0" indent="0">
              <a:buNone/>
            </a:pPr>
            <a:r>
              <a:rPr lang="en-US" dirty="0">
                <a:solidFill>
                  <a:srgbClr val="1F2937"/>
                </a:solidFill>
              </a:rPr>
              <a:t>• Exception alerts</a:t>
            </a:r>
            <a:endParaRPr lang="en-US" dirty="0"/>
          </a:p>
          <a:p>
            <a:pPr marL="0" indent="0">
              <a:buNone/>
            </a:pPr>
            <a:r>
              <a:rPr lang="en-US" dirty="0">
                <a:solidFill>
                  <a:srgbClr val="1F2937"/>
                </a:solidFill>
              </a:rPr>
              <a:t>• Go-live readiness checks</a:t>
            </a:r>
            <a:endParaRPr lang="en-US" dirty="0"/>
          </a:p>
          <a:p>
            <a:pPr marL="0" indent="0">
              <a:buNone/>
            </a:pPr>
            <a:r>
              <a:rPr lang="en-US" dirty="0">
                <a:solidFill>
                  <a:srgbClr val="1F2937"/>
                </a:solidFill>
              </a:rPr>
              <a:t>• Hypercare support</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8792" y="0"/>
            <a:ext cx="12191695" cy="502920"/>
          </a:xfrm>
          <a:prstGeom prst="rect">
            <a:avLst/>
          </a:prstGeom>
          <a:solidFill>
            <a:srgbClr val="163A5F"/>
          </a:solidFill>
          <a:ln w="12700">
            <a:solidFill>
              <a:srgbClr val="163A5F">
                <a:alpha val="0"/>
              </a:srgbClr>
            </a:solidFill>
            <a:prstDash val="solid"/>
          </a:ln>
        </p:spPr>
        <p:txBody>
          <a:bodyPr/>
          <a:lstStyle/>
          <a:p>
            <a:endParaRPr lang="en-US"/>
          </a:p>
        </p:txBody>
      </p:sp>
      <p:sp>
        <p:nvSpPr>
          <p:cNvPr id="3" name="Text 1"/>
          <p:cNvSpPr/>
          <p:nvPr/>
        </p:nvSpPr>
        <p:spPr>
          <a:xfrm>
            <a:off x="365760" y="109728"/>
            <a:ext cx="9875520" cy="2286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Deliberately deferred scope</a:t>
            </a:r>
            <a:endParaRPr lang="en-US" sz="2200" dirty="0"/>
          </a:p>
        </p:txBody>
      </p:sp>
      <p:sp>
        <p:nvSpPr>
          <p:cNvPr id="4" name="Text 2"/>
          <p:cNvSpPr/>
          <p:nvPr/>
        </p:nvSpPr>
        <p:spPr>
          <a:xfrm>
            <a:off x="9738360" y="118872"/>
            <a:ext cx="2011680" cy="182880"/>
          </a:xfrm>
          <a:prstGeom prst="rect">
            <a:avLst/>
          </a:prstGeom>
          <a:noFill/>
          <a:ln/>
        </p:spPr>
        <p:txBody>
          <a:bodyPr wrap="square" lIns="0" tIns="0" rIns="0" bIns="0" rtlCol="0" anchor="ctr"/>
          <a:lstStyle/>
          <a:p>
            <a:pPr marL="0" indent="0" algn="r">
              <a:buNone/>
            </a:pPr>
            <a:r>
              <a:rPr lang="en-US" sz="1000" dirty="0">
                <a:solidFill>
                  <a:srgbClr val="DCE6F1"/>
                </a:solidFill>
              </a:rPr>
              <a:t>What should wait until after stabilisation</a:t>
            </a:r>
            <a:endParaRPr lang="en-US" sz="1000" dirty="0"/>
          </a:p>
        </p:txBody>
      </p:sp>
      <p:sp>
        <p:nvSpPr>
          <p:cNvPr id="5" name="Shape 3"/>
          <p:cNvSpPr/>
          <p:nvPr/>
        </p:nvSpPr>
        <p:spPr>
          <a:xfrm>
            <a:off x="548640" y="914400"/>
            <a:ext cx="5394960" cy="2011680"/>
          </a:xfrm>
          <a:prstGeom prst="roundRect">
            <a:avLst>
              <a:gd name="adj" fmla="val 3636"/>
            </a:avLst>
          </a:prstGeom>
          <a:solidFill>
            <a:srgbClr val="FFF7ED"/>
          </a:solidFill>
          <a:ln w="12700">
            <a:solidFill>
              <a:srgbClr val="F2C17D"/>
            </a:solidFill>
            <a:prstDash val="solid"/>
          </a:ln>
        </p:spPr>
        <p:txBody>
          <a:bodyPr/>
          <a:lstStyle/>
          <a:p>
            <a:endParaRPr lang="en-US"/>
          </a:p>
        </p:txBody>
      </p:sp>
      <p:sp>
        <p:nvSpPr>
          <p:cNvPr id="6" name="Text 4"/>
          <p:cNvSpPr/>
          <p:nvPr/>
        </p:nvSpPr>
        <p:spPr>
          <a:xfrm>
            <a:off x="658368" y="987552"/>
            <a:ext cx="5175504" cy="164592"/>
          </a:xfrm>
          <a:prstGeom prst="rect">
            <a:avLst/>
          </a:prstGeom>
          <a:noFill/>
          <a:ln/>
        </p:spPr>
        <p:txBody>
          <a:bodyPr wrap="square" lIns="0" tIns="0" rIns="0" bIns="0" rtlCol="0" anchor="ctr"/>
          <a:lstStyle/>
          <a:p>
            <a:pPr marL="0" indent="0" algn="l">
              <a:buNone/>
            </a:pPr>
            <a:r>
              <a:rPr lang="en-US" sz="2000" b="1" dirty="0">
                <a:solidFill>
                  <a:srgbClr val="D97706"/>
                </a:solidFill>
              </a:rPr>
              <a:t>Defer from initial go-live</a:t>
            </a:r>
            <a:endParaRPr lang="en-US" sz="2000" dirty="0"/>
          </a:p>
        </p:txBody>
      </p:sp>
      <p:sp>
        <p:nvSpPr>
          <p:cNvPr id="7" name="Text 5"/>
          <p:cNvSpPr/>
          <p:nvPr/>
        </p:nvSpPr>
        <p:spPr>
          <a:xfrm>
            <a:off x="658368" y="1188720"/>
            <a:ext cx="5175504" cy="1682496"/>
          </a:xfrm>
          <a:prstGeom prst="rect">
            <a:avLst/>
          </a:prstGeom>
          <a:noFill/>
          <a:ln/>
        </p:spPr>
        <p:txBody>
          <a:bodyPr wrap="square" lIns="254" tIns="254" rIns="254" bIns="254" rtlCol="0" anchor="t">
            <a:normAutofit/>
          </a:bodyPr>
          <a:lstStyle/>
          <a:p>
            <a:pPr marL="0" indent="0">
              <a:buNone/>
            </a:pPr>
            <a:r>
              <a:rPr lang="en-US" dirty="0">
                <a:solidFill>
                  <a:srgbClr val="1F2937"/>
                </a:solidFill>
              </a:rPr>
              <a:t>• Full CRM redesign</a:t>
            </a:r>
            <a:endParaRPr lang="en-US" dirty="0"/>
          </a:p>
          <a:p>
            <a:pPr marL="0" indent="0">
              <a:buNone/>
            </a:pPr>
            <a:r>
              <a:rPr lang="en-US" dirty="0">
                <a:solidFill>
                  <a:srgbClr val="1F2937"/>
                </a:solidFill>
              </a:rPr>
              <a:t>• Full HRIS / payroll replacement</a:t>
            </a:r>
            <a:endParaRPr lang="en-US" dirty="0"/>
          </a:p>
          <a:p>
            <a:pPr marL="0" indent="0">
              <a:buNone/>
            </a:pPr>
            <a:r>
              <a:rPr lang="en-US" dirty="0">
                <a:solidFill>
                  <a:srgbClr val="1F2937"/>
                </a:solidFill>
              </a:rPr>
              <a:t>• Advanced analytics and AI add-ons</a:t>
            </a:r>
            <a:endParaRPr lang="en-US" dirty="0"/>
          </a:p>
          <a:p>
            <a:pPr marL="0" indent="0">
              <a:buNone/>
            </a:pPr>
            <a:r>
              <a:rPr lang="en-US" dirty="0">
                <a:solidFill>
                  <a:srgbClr val="1F2937"/>
                </a:solidFill>
              </a:rPr>
              <a:t>• Broad workflow automation</a:t>
            </a:r>
            <a:endParaRPr lang="en-US" dirty="0"/>
          </a:p>
          <a:p>
            <a:pPr marL="0" indent="0">
              <a:buNone/>
            </a:pPr>
            <a:r>
              <a:rPr lang="en-US" dirty="0">
                <a:solidFill>
                  <a:srgbClr val="1F2937"/>
                </a:solidFill>
              </a:rPr>
              <a:t>• Non-essential user interface changes</a:t>
            </a:r>
            <a:endParaRPr lang="en-US" dirty="0"/>
          </a:p>
        </p:txBody>
      </p:sp>
      <p:sp>
        <p:nvSpPr>
          <p:cNvPr id="8" name="Shape 6"/>
          <p:cNvSpPr/>
          <p:nvPr/>
        </p:nvSpPr>
        <p:spPr>
          <a:xfrm>
            <a:off x="548640" y="3291840"/>
            <a:ext cx="5394960" cy="1645920"/>
          </a:xfrm>
          <a:prstGeom prst="roundRect">
            <a:avLst>
              <a:gd name="adj" fmla="val 4444"/>
            </a:avLst>
          </a:prstGeom>
          <a:solidFill>
            <a:srgbClr val="FFFDF7"/>
          </a:solidFill>
          <a:ln w="12700">
            <a:solidFill>
              <a:srgbClr val="F2C17D"/>
            </a:solidFill>
            <a:prstDash val="solid"/>
          </a:ln>
        </p:spPr>
        <p:txBody>
          <a:bodyPr/>
          <a:lstStyle/>
          <a:p>
            <a:endParaRPr lang="en-US"/>
          </a:p>
        </p:txBody>
      </p:sp>
      <p:sp>
        <p:nvSpPr>
          <p:cNvPr id="9" name="Text 7"/>
          <p:cNvSpPr/>
          <p:nvPr/>
        </p:nvSpPr>
        <p:spPr>
          <a:xfrm>
            <a:off x="658368" y="3364992"/>
            <a:ext cx="5175504" cy="290498"/>
          </a:xfrm>
          <a:prstGeom prst="rect">
            <a:avLst/>
          </a:prstGeom>
          <a:noFill/>
          <a:ln/>
        </p:spPr>
        <p:txBody>
          <a:bodyPr wrap="square" lIns="0" tIns="0" rIns="0" bIns="0" rtlCol="0" anchor="ctr"/>
          <a:lstStyle/>
          <a:p>
            <a:pPr marL="0" indent="0" algn="l">
              <a:buNone/>
            </a:pPr>
            <a:r>
              <a:rPr lang="en-US" sz="2000" b="1" dirty="0">
                <a:solidFill>
                  <a:srgbClr val="163A5F"/>
                </a:solidFill>
              </a:rPr>
              <a:t>Why defer?</a:t>
            </a:r>
            <a:endParaRPr lang="en-US" sz="2000" dirty="0"/>
          </a:p>
        </p:txBody>
      </p:sp>
      <p:sp>
        <p:nvSpPr>
          <p:cNvPr id="10" name="Text 8"/>
          <p:cNvSpPr/>
          <p:nvPr/>
        </p:nvSpPr>
        <p:spPr>
          <a:xfrm>
            <a:off x="658368" y="3710354"/>
            <a:ext cx="5175504" cy="1172542"/>
          </a:xfrm>
          <a:prstGeom prst="rect">
            <a:avLst/>
          </a:prstGeom>
          <a:noFill/>
          <a:ln/>
        </p:spPr>
        <p:txBody>
          <a:bodyPr wrap="square" lIns="254" tIns="254" rIns="254" bIns="254" rtlCol="0" anchor="t">
            <a:normAutofit/>
          </a:bodyPr>
          <a:lstStyle/>
          <a:p>
            <a:pPr marL="0" indent="0">
              <a:buNone/>
            </a:pPr>
            <a:r>
              <a:rPr lang="en-US" dirty="0">
                <a:solidFill>
                  <a:srgbClr val="1F2937"/>
                </a:solidFill>
              </a:rPr>
              <a:t>These items add delivery risk but do not stop AMG from building, shipping and invoicing on Day 1.</a:t>
            </a:r>
            <a:endParaRPr lang="en-US" dirty="0"/>
          </a:p>
        </p:txBody>
      </p:sp>
      <p:sp>
        <p:nvSpPr>
          <p:cNvPr id="11" name="Shape 9"/>
          <p:cNvSpPr/>
          <p:nvPr/>
        </p:nvSpPr>
        <p:spPr>
          <a:xfrm>
            <a:off x="6263640" y="914400"/>
            <a:ext cx="5394960" cy="4023360"/>
          </a:xfrm>
          <a:prstGeom prst="roundRect">
            <a:avLst>
              <a:gd name="adj" fmla="val 1818"/>
            </a:avLst>
          </a:prstGeom>
          <a:solidFill>
            <a:srgbClr val="F8FAFC"/>
          </a:solidFill>
          <a:ln w="12700">
            <a:solidFill>
              <a:srgbClr val="CBD5E1"/>
            </a:solidFill>
            <a:prstDash val="solid"/>
          </a:ln>
        </p:spPr>
        <p:txBody>
          <a:bodyPr/>
          <a:lstStyle/>
          <a:p>
            <a:endParaRPr lang="en-US"/>
          </a:p>
        </p:txBody>
      </p:sp>
      <p:sp>
        <p:nvSpPr>
          <p:cNvPr id="12" name="Text 10"/>
          <p:cNvSpPr/>
          <p:nvPr/>
        </p:nvSpPr>
        <p:spPr>
          <a:xfrm>
            <a:off x="6373368" y="987552"/>
            <a:ext cx="5175504" cy="164592"/>
          </a:xfrm>
          <a:prstGeom prst="rect">
            <a:avLst/>
          </a:prstGeom>
          <a:noFill/>
          <a:ln/>
        </p:spPr>
        <p:txBody>
          <a:bodyPr wrap="square" lIns="0" tIns="0" rIns="0" bIns="0" rtlCol="0" anchor="ctr"/>
          <a:lstStyle/>
          <a:p>
            <a:pPr marL="0" indent="0" algn="l">
              <a:buNone/>
            </a:pPr>
            <a:r>
              <a:rPr lang="en-US" sz="2000" b="1" dirty="0">
                <a:solidFill>
                  <a:srgbClr val="163A5F"/>
                </a:solidFill>
              </a:rPr>
              <a:t>Customization discipline</a:t>
            </a:r>
            <a:endParaRPr lang="en-US" sz="2000" dirty="0"/>
          </a:p>
        </p:txBody>
      </p:sp>
      <p:sp>
        <p:nvSpPr>
          <p:cNvPr id="13" name="Text 11"/>
          <p:cNvSpPr/>
          <p:nvPr/>
        </p:nvSpPr>
        <p:spPr>
          <a:xfrm>
            <a:off x="6373368" y="1327638"/>
            <a:ext cx="5175504" cy="3555258"/>
          </a:xfrm>
          <a:prstGeom prst="rect">
            <a:avLst/>
          </a:prstGeom>
          <a:noFill/>
          <a:ln/>
        </p:spPr>
        <p:txBody>
          <a:bodyPr wrap="square" lIns="254" tIns="254" rIns="254" bIns="254" rtlCol="0" anchor="t">
            <a:normAutofit/>
          </a:bodyPr>
          <a:lstStyle/>
          <a:p>
            <a:pPr marL="0" indent="0">
              <a:buNone/>
            </a:pPr>
            <a:r>
              <a:rPr lang="en-US" dirty="0">
                <a:solidFill>
                  <a:srgbClr val="1F2937"/>
                </a:solidFill>
              </a:rPr>
              <a:t>1. Start with standard functionality</a:t>
            </a:r>
            <a:endParaRPr lang="en-US" dirty="0"/>
          </a:p>
          <a:p>
            <a:pPr marL="0" indent="0">
              <a:buNone/>
            </a:pPr>
            <a:r>
              <a:rPr lang="en-US" dirty="0">
                <a:solidFill>
                  <a:srgbClr val="1F2937"/>
                </a:solidFill>
              </a:rPr>
              <a:t>2. Accept configuration before code changes</a:t>
            </a:r>
            <a:endParaRPr lang="en-US" dirty="0"/>
          </a:p>
          <a:p>
            <a:pPr marL="0" indent="0">
              <a:buNone/>
            </a:pPr>
            <a:r>
              <a:rPr lang="en-US" dirty="0">
                <a:solidFill>
                  <a:srgbClr val="1F2937"/>
                </a:solidFill>
              </a:rPr>
              <a:t>3. Require a business case for every exception</a:t>
            </a:r>
            <a:endParaRPr lang="en-US" dirty="0"/>
          </a:p>
          <a:p>
            <a:pPr marL="0" indent="0">
              <a:buNone/>
            </a:pPr>
            <a:r>
              <a:rPr lang="en-US" dirty="0">
                <a:solidFill>
                  <a:srgbClr val="1F2937"/>
                </a:solidFill>
              </a:rPr>
              <a:t>4. Reject “legacy in new clothes” requests</a:t>
            </a:r>
            <a:endParaRPr lang="en-US" dirty="0"/>
          </a:p>
          <a:p>
            <a:pPr marL="0" indent="0">
              <a:buNone/>
            </a:pPr>
            <a:r>
              <a:rPr lang="en-US" dirty="0">
                <a:solidFill>
                  <a:srgbClr val="1F2937"/>
                </a:solidFill>
              </a:rPr>
              <a:t>5. Push late changes into a later release</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163A5F"/>
          </a:solidFill>
          <a:ln w="12700">
            <a:solidFill>
              <a:srgbClr val="163A5F">
                <a:alpha val="0"/>
              </a:srgbClr>
            </a:solidFill>
            <a:prstDash val="solid"/>
          </a:ln>
        </p:spPr>
        <p:txBody>
          <a:bodyPr/>
          <a:lstStyle/>
          <a:p>
            <a:endParaRPr lang="en-US"/>
          </a:p>
        </p:txBody>
      </p:sp>
      <p:sp>
        <p:nvSpPr>
          <p:cNvPr id="3" name="Text 1"/>
          <p:cNvSpPr/>
          <p:nvPr/>
        </p:nvSpPr>
        <p:spPr>
          <a:xfrm>
            <a:off x="365760" y="109728"/>
            <a:ext cx="9875520" cy="2286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 and reporting strategy</a:t>
            </a:r>
            <a:endParaRPr lang="en-US" sz="2200" dirty="0"/>
          </a:p>
        </p:txBody>
      </p:sp>
      <p:sp>
        <p:nvSpPr>
          <p:cNvPr id="4" name="Text 2"/>
          <p:cNvSpPr/>
          <p:nvPr/>
        </p:nvSpPr>
        <p:spPr>
          <a:xfrm>
            <a:off x="9738360" y="118872"/>
            <a:ext cx="2011680" cy="182880"/>
          </a:xfrm>
          <a:prstGeom prst="rect">
            <a:avLst/>
          </a:prstGeom>
          <a:noFill/>
          <a:ln/>
        </p:spPr>
        <p:txBody>
          <a:bodyPr wrap="square" lIns="0" tIns="0" rIns="0" bIns="0" rtlCol="0" anchor="ctr"/>
          <a:lstStyle/>
          <a:p>
            <a:pPr marL="0" indent="0" algn="r">
              <a:buNone/>
            </a:pPr>
            <a:r>
              <a:rPr lang="en-US" sz="1000" dirty="0">
                <a:solidFill>
                  <a:srgbClr val="DCE6F1"/>
                </a:solidFill>
              </a:rPr>
              <a:t>Keep history accessible without overloading the ERP</a:t>
            </a:r>
            <a:endParaRPr lang="en-US" sz="1000" dirty="0"/>
          </a:p>
        </p:txBody>
      </p:sp>
      <p:sp>
        <p:nvSpPr>
          <p:cNvPr id="5" name="Shape 3"/>
          <p:cNvSpPr/>
          <p:nvPr/>
        </p:nvSpPr>
        <p:spPr>
          <a:xfrm>
            <a:off x="640080" y="1005840"/>
            <a:ext cx="2834640" cy="1005840"/>
          </a:xfrm>
          <a:prstGeom prst="roundRect">
            <a:avLst>
              <a:gd name="adj" fmla="val 7273"/>
            </a:avLst>
          </a:prstGeom>
          <a:solidFill>
            <a:srgbClr val="EAF4FB"/>
          </a:solidFill>
          <a:ln w="12700">
            <a:solidFill>
              <a:srgbClr val="9FBFDA"/>
            </a:solidFill>
            <a:prstDash val="solid"/>
          </a:ln>
        </p:spPr>
        <p:txBody>
          <a:bodyPr/>
          <a:lstStyle/>
          <a:p>
            <a:endParaRPr lang="en-US"/>
          </a:p>
        </p:txBody>
      </p:sp>
      <p:sp>
        <p:nvSpPr>
          <p:cNvPr id="6" name="Text 4"/>
          <p:cNvSpPr/>
          <p:nvPr/>
        </p:nvSpPr>
        <p:spPr>
          <a:xfrm>
            <a:off x="749808" y="1078992"/>
            <a:ext cx="2615184" cy="164592"/>
          </a:xfrm>
          <a:prstGeom prst="rect">
            <a:avLst/>
          </a:prstGeom>
          <a:noFill/>
          <a:ln/>
        </p:spPr>
        <p:txBody>
          <a:bodyPr wrap="square" lIns="0" tIns="0" rIns="0" bIns="0" rtlCol="0" anchor="ctr"/>
          <a:lstStyle/>
          <a:p>
            <a:pPr marL="0" indent="0" algn="l">
              <a:buNone/>
            </a:pPr>
            <a:r>
              <a:rPr lang="en-US" sz="2000" b="1" dirty="0">
                <a:solidFill>
                  <a:srgbClr val="163A5F"/>
                </a:solidFill>
              </a:rPr>
              <a:t>Operational data</a:t>
            </a:r>
            <a:endParaRPr lang="en-US" sz="2000" dirty="0"/>
          </a:p>
        </p:txBody>
      </p:sp>
      <p:sp>
        <p:nvSpPr>
          <p:cNvPr id="7" name="Text 5"/>
          <p:cNvSpPr/>
          <p:nvPr/>
        </p:nvSpPr>
        <p:spPr>
          <a:xfrm>
            <a:off x="749808" y="1280160"/>
            <a:ext cx="2615184" cy="676656"/>
          </a:xfrm>
          <a:prstGeom prst="rect">
            <a:avLst/>
          </a:prstGeom>
          <a:noFill/>
          <a:ln/>
        </p:spPr>
        <p:txBody>
          <a:bodyPr wrap="square" lIns="254" tIns="254" rIns="254" bIns="254" rtlCol="0" anchor="t">
            <a:normAutofit/>
          </a:bodyPr>
          <a:lstStyle/>
          <a:p>
            <a:pPr marL="0" indent="0">
              <a:buNone/>
            </a:pPr>
            <a:r>
              <a:rPr lang="en-US" dirty="0">
                <a:solidFill>
                  <a:srgbClr val="1F2937"/>
                </a:solidFill>
              </a:rPr>
              <a:t>Live master data + open items + current balances</a:t>
            </a:r>
            <a:endParaRPr lang="en-US" dirty="0"/>
          </a:p>
        </p:txBody>
      </p:sp>
      <p:sp>
        <p:nvSpPr>
          <p:cNvPr id="8" name="Shape 6"/>
          <p:cNvSpPr/>
          <p:nvPr/>
        </p:nvSpPr>
        <p:spPr>
          <a:xfrm>
            <a:off x="4069080" y="1005840"/>
            <a:ext cx="2834640" cy="1005840"/>
          </a:xfrm>
          <a:prstGeom prst="roundRect">
            <a:avLst>
              <a:gd name="adj" fmla="val 7273"/>
            </a:avLst>
          </a:prstGeom>
          <a:solidFill>
            <a:srgbClr val="D9EEF0"/>
          </a:solidFill>
          <a:ln w="12700">
            <a:solidFill>
              <a:srgbClr val="8EC6CC"/>
            </a:solidFill>
            <a:prstDash val="solid"/>
          </a:ln>
        </p:spPr>
        <p:txBody>
          <a:bodyPr/>
          <a:lstStyle/>
          <a:p>
            <a:endParaRPr lang="en-US"/>
          </a:p>
        </p:txBody>
      </p:sp>
      <p:sp>
        <p:nvSpPr>
          <p:cNvPr id="9" name="Text 7"/>
          <p:cNvSpPr/>
          <p:nvPr/>
        </p:nvSpPr>
        <p:spPr>
          <a:xfrm>
            <a:off x="4178808" y="1078992"/>
            <a:ext cx="2615184" cy="164592"/>
          </a:xfrm>
          <a:prstGeom prst="rect">
            <a:avLst/>
          </a:prstGeom>
          <a:noFill/>
          <a:ln/>
        </p:spPr>
        <p:txBody>
          <a:bodyPr wrap="square" lIns="0" tIns="0" rIns="0" bIns="0" rtlCol="0" anchor="ctr"/>
          <a:lstStyle/>
          <a:p>
            <a:pPr marL="0" indent="0" algn="l">
              <a:buNone/>
            </a:pPr>
            <a:r>
              <a:rPr lang="en-US" sz="2000" b="1" dirty="0">
                <a:solidFill>
                  <a:srgbClr val="2A7F8E"/>
                </a:solidFill>
              </a:rPr>
              <a:t>New ERP</a:t>
            </a:r>
            <a:endParaRPr lang="en-US" sz="2000" dirty="0"/>
          </a:p>
        </p:txBody>
      </p:sp>
      <p:sp>
        <p:nvSpPr>
          <p:cNvPr id="10" name="Text 8"/>
          <p:cNvSpPr/>
          <p:nvPr/>
        </p:nvSpPr>
        <p:spPr>
          <a:xfrm>
            <a:off x="4178808" y="1280160"/>
            <a:ext cx="2615184" cy="676656"/>
          </a:xfrm>
          <a:prstGeom prst="rect">
            <a:avLst/>
          </a:prstGeom>
          <a:noFill/>
          <a:ln/>
        </p:spPr>
        <p:txBody>
          <a:bodyPr wrap="square" lIns="254" tIns="254" rIns="254" bIns="254" rtlCol="0" anchor="t">
            <a:normAutofit/>
          </a:bodyPr>
          <a:lstStyle/>
          <a:p>
            <a:pPr marL="0" indent="0">
              <a:buNone/>
            </a:pPr>
            <a:r>
              <a:rPr lang="en-US" dirty="0">
                <a:solidFill>
                  <a:srgbClr val="1F2937"/>
                </a:solidFill>
              </a:rPr>
              <a:t>System of record for Day-1 operations</a:t>
            </a:r>
            <a:endParaRPr lang="en-US" dirty="0"/>
          </a:p>
        </p:txBody>
      </p:sp>
      <p:sp>
        <p:nvSpPr>
          <p:cNvPr id="11" name="Shape 9"/>
          <p:cNvSpPr/>
          <p:nvPr/>
        </p:nvSpPr>
        <p:spPr>
          <a:xfrm>
            <a:off x="7498080" y="1005840"/>
            <a:ext cx="3749040" cy="1005840"/>
          </a:xfrm>
          <a:prstGeom prst="roundRect">
            <a:avLst>
              <a:gd name="adj" fmla="val 7273"/>
            </a:avLst>
          </a:prstGeom>
          <a:solidFill>
            <a:srgbClr val="EEF2FF"/>
          </a:solidFill>
          <a:ln w="12700">
            <a:solidFill>
              <a:srgbClr val="C7D2FE"/>
            </a:solidFill>
            <a:prstDash val="solid"/>
          </a:ln>
        </p:spPr>
        <p:txBody>
          <a:bodyPr/>
          <a:lstStyle/>
          <a:p>
            <a:endParaRPr lang="en-US"/>
          </a:p>
        </p:txBody>
      </p:sp>
      <p:sp>
        <p:nvSpPr>
          <p:cNvPr id="12" name="Text 10"/>
          <p:cNvSpPr/>
          <p:nvPr/>
        </p:nvSpPr>
        <p:spPr>
          <a:xfrm>
            <a:off x="7607808" y="1078992"/>
            <a:ext cx="3529584" cy="164592"/>
          </a:xfrm>
          <a:prstGeom prst="rect">
            <a:avLst/>
          </a:prstGeom>
          <a:noFill/>
          <a:ln/>
        </p:spPr>
        <p:txBody>
          <a:bodyPr wrap="square" lIns="0" tIns="0" rIns="0" bIns="0" rtlCol="0" anchor="ctr"/>
          <a:lstStyle/>
          <a:p>
            <a:pPr marL="0" indent="0" algn="l">
              <a:buNone/>
            </a:pPr>
            <a:r>
              <a:rPr lang="en-US" sz="2000" b="1" dirty="0">
                <a:solidFill>
                  <a:srgbClr val="4F46E5"/>
                </a:solidFill>
              </a:rPr>
              <a:t>Archive / warehouse</a:t>
            </a:r>
            <a:endParaRPr lang="en-US" sz="2000" dirty="0"/>
          </a:p>
        </p:txBody>
      </p:sp>
      <p:sp>
        <p:nvSpPr>
          <p:cNvPr id="13" name="Text 11"/>
          <p:cNvSpPr/>
          <p:nvPr/>
        </p:nvSpPr>
        <p:spPr>
          <a:xfrm>
            <a:off x="7607808" y="1280160"/>
            <a:ext cx="3529584" cy="676656"/>
          </a:xfrm>
          <a:prstGeom prst="rect">
            <a:avLst/>
          </a:prstGeom>
          <a:noFill/>
          <a:ln/>
        </p:spPr>
        <p:txBody>
          <a:bodyPr wrap="square" lIns="254" tIns="254" rIns="254" bIns="254" rtlCol="0" anchor="t">
            <a:normAutofit/>
          </a:bodyPr>
          <a:lstStyle/>
          <a:p>
            <a:pPr marL="0" indent="0">
              <a:buNone/>
            </a:pPr>
            <a:r>
              <a:rPr lang="en-US" dirty="0">
                <a:solidFill>
                  <a:srgbClr val="1F2937"/>
                </a:solidFill>
              </a:rPr>
              <a:t>Historical detail, trend analysis, audit support, KPI history</a:t>
            </a:r>
            <a:endParaRPr lang="en-US" dirty="0"/>
          </a:p>
        </p:txBody>
      </p:sp>
      <p:sp>
        <p:nvSpPr>
          <p:cNvPr id="14" name="Shape 12"/>
          <p:cNvSpPr/>
          <p:nvPr/>
        </p:nvSpPr>
        <p:spPr>
          <a:xfrm>
            <a:off x="3474720" y="1508760"/>
            <a:ext cx="594360" cy="0"/>
          </a:xfrm>
          <a:prstGeom prst="line">
            <a:avLst/>
          </a:prstGeom>
          <a:noFill/>
          <a:ln w="12700">
            <a:solidFill>
              <a:srgbClr val="2A7F8E"/>
            </a:solidFill>
            <a:prstDash val="solid"/>
            <a:tailEnd type="triangle"/>
          </a:ln>
        </p:spPr>
        <p:txBody>
          <a:bodyPr/>
          <a:lstStyle/>
          <a:p>
            <a:endParaRPr lang="en-US"/>
          </a:p>
        </p:txBody>
      </p:sp>
      <p:sp>
        <p:nvSpPr>
          <p:cNvPr id="15" name="Shape 13"/>
          <p:cNvSpPr/>
          <p:nvPr/>
        </p:nvSpPr>
        <p:spPr>
          <a:xfrm>
            <a:off x="6903720" y="1508760"/>
            <a:ext cx="594360" cy="0"/>
          </a:xfrm>
          <a:prstGeom prst="line">
            <a:avLst/>
          </a:prstGeom>
          <a:noFill/>
          <a:ln w="12700">
            <a:solidFill>
              <a:srgbClr val="2A7F8E"/>
            </a:solidFill>
            <a:prstDash val="solid"/>
            <a:tailEnd type="triangle"/>
          </a:ln>
        </p:spPr>
        <p:txBody>
          <a:bodyPr/>
          <a:lstStyle/>
          <a:p>
            <a:endParaRPr lang="en-US"/>
          </a:p>
        </p:txBody>
      </p:sp>
      <p:sp>
        <p:nvSpPr>
          <p:cNvPr id="16" name="Shape 14"/>
          <p:cNvSpPr/>
          <p:nvPr/>
        </p:nvSpPr>
        <p:spPr>
          <a:xfrm>
            <a:off x="1005840" y="2743200"/>
            <a:ext cx="10149840" cy="1005840"/>
          </a:xfrm>
          <a:prstGeom prst="roundRect">
            <a:avLst>
              <a:gd name="adj" fmla="val 7273"/>
            </a:avLst>
          </a:prstGeom>
          <a:solidFill>
            <a:srgbClr val="FFFFFF"/>
          </a:solidFill>
          <a:ln w="12700">
            <a:solidFill>
              <a:srgbClr val="CBD5E1"/>
            </a:solidFill>
            <a:prstDash val="solid"/>
          </a:ln>
        </p:spPr>
        <p:txBody>
          <a:bodyPr/>
          <a:lstStyle/>
          <a:p>
            <a:endParaRPr lang="en-US"/>
          </a:p>
        </p:txBody>
      </p:sp>
      <p:sp>
        <p:nvSpPr>
          <p:cNvPr id="17" name="Text 15"/>
          <p:cNvSpPr/>
          <p:nvPr/>
        </p:nvSpPr>
        <p:spPr>
          <a:xfrm>
            <a:off x="1115568" y="2816352"/>
            <a:ext cx="9930384" cy="164592"/>
          </a:xfrm>
          <a:prstGeom prst="rect">
            <a:avLst/>
          </a:prstGeom>
          <a:noFill/>
          <a:ln/>
        </p:spPr>
        <p:txBody>
          <a:bodyPr wrap="square" lIns="0" tIns="0" rIns="0" bIns="0" rtlCol="0" anchor="ctr"/>
          <a:lstStyle/>
          <a:p>
            <a:pPr marL="0" indent="0" algn="l">
              <a:buNone/>
            </a:pPr>
            <a:r>
              <a:rPr lang="en-US" sz="2000" b="1" dirty="0">
                <a:solidFill>
                  <a:srgbClr val="163A5F"/>
                </a:solidFill>
              </a:rPr>
              <a:t>Month-end close continuity</a:t>
            </a:r>
            <a:endParaRPr lang="en-US" sz="2000" dirty="0"/>
          </a:p>
        </p:txBody>
      </p:sp>
      <p:sp>
        <p:nvSpPr>
          <p:cNvPr id="18" name="Text 16"/>
          <p:cNvSpPr/>
          <p:nvPr/>
        </p:nvSpPr>
        <p:spPr>
          <a:xfrm>
            <a:off x="1115568" y="3017520"/>
            <a:ext cx="9930384" cy="676656"/>
          </a:xfrm>
          <a:prstGeom prst="rect">
            <a:avLst/>
          </a:prstGeom>
          <a:noFill/>
          <a:ln/>
        </p:spPr>
        <p:txBody>
          <a:bodyPr wrap="square" lIns="254" tIns="254" rIns="254" bIns="254" rtlCol="0" anchor="t">
            <a:normAutofit/>
          </a:bodyPr>
          <a:lstStyle/>
          <a:p>
            <a:pPr marL="0" indent="0">
              <a:buNone/>
            </a:pPr>
            <a:r>
              <a:rPr lang="en-US" dirty="0">
                <a:solidFill>
                  <a:srgbClr val="1F2937"/>
                </a:solidFill>
              </a:rPr>
              <a:t>Run a parallel close before cutover, compare totals, and keep the legacy ERP read-only until finance and audit are satisfied that reports and controls are stable.</a:t>
            </a:r>
            <a:endParaRPr lang="en-US" dirty="0"/>
          </a:p>
        </p:txBody>
      </p:sp>
      <p:sp>
        <p:nvSpPr>
          <p:cNvPr id="19" name="Shape 17"/>
          <p:cNvSpPr/>
          <p:nvPr/>
        </p:nvSpPr>
        <p:spPr>
          <a:xfrm>
            <a:off x="1005840" y="4114800"/>
            <a:ext cx="10149840" cy="914400"/>
          </a:xfrm>
          <a:prstGeom prst="roundRect">
            <a:avLst>
              <a:gd name="adj" fmla="val 8000"/>
            </a:avLst>
          </a:prstGeom>
          <a:solidFill>
            <a:srgbClr val="F8FAFC"/>
          </a:solidFill>
          <a:ln w="12700">
            <a:solidFill>
              <a:srgbClr val="CBD5E1"/>
            </a:solidFill>
            <a:prstDash val="solid"/>
          </a:ln>
        </p:spPr>
        <p:txBody>
          <a:bodyPr/>
          <a:lstStyle/>
          <a:p>
            <a:endParaRPr lang="en-US"/>
          </a:p>
        </p:txBody>
      </p:sp>
      <p:sp>
        <p:nvSpPr>
          <p:cNvPr id="20" name="Text 18"/>
          <p:cNvSpPr/>
          <p:nvPr/>
        </p:nvSpPr>
        <p:spPr>
          <a:xfrm>
            <a:off x="1115568" y="4187952"/>
            <a:ext cx="9930384" cy="164592"/>
          </a:xfrm>
          <a:prstGeom prst="rect">
            <a:avLst/>
          </a:prstGeom>
          <a:noFill/>
          <a:ln/>
        </p:spPr>
        <p:txBody>
          <a:bodyPr wrap="square" lIns="0" tIns="0" rIns="0" bIns="0" rtlCol="0" anchor="ctr"/>
          <a:lstStyle/>
          <a:p>
            <a:pPr marL="0" indent="0" algn="l">
              <a:buNone/>
            </a:pPr>
            <a:r>
              <a:rPr lang="en-US" sz="2000" b="1" dirty="0">
                <a:solidFill>
                  <a:srgbClr val="163A5F"/>
                </a:solidFill>
              </a:rPr>
              <a:t>Practical rule</a:t>
            </a:r>
            <a:endParaRPr lang="en-US" sz="2000" dirty="0"/>
          </a:p>
        </p:txBody>
      </p:sp>
      <p:sp>
        <p:nvSpPr>
          <p:cNvPr id="21" name="Text 19"/>
          <p:cNvSpPr/>
          <p:nvPr/>
        </p:nvSpPr>
        <p:spPr>
          <a:xfrm>
            <a:off x="1115568" y="4389120"/>
            <a:ext cx="9930384" cy="585216"/>
          </a:xfrm>
          <a:prstGeom prst="rect">
            <a:avLst/>
          </a:prstGeom>
          <a:noFill/>
          <a:ln/>
        </p:spPr>
        <p:txBody>
          <a:bodyPr wrap="square" lIns="254" tIns="254" rIns="254" bIns="254" rtlCol="0" anchor="t">
            <a:normAutofit/>
          </a:bodyPr>
          <a:lstStyle/>
          <a:p>
            <a:pPr marL="0" indent="0">
              <a:buNone/>
            </a:pPr>
            <a:r>
              <a:rPr lang="en-US" dirty="0">
                <a:solidFill>
                  <a:srgbClr val="1F2937"/>
                </a:solidFill>
              </a:rPr>
              <a:t>Move what operations need now; archive what leadership still needs to see later.</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163A5F"/>
          </a:solidFill>
          <a:ln w="12700">
            <a:solidFill>
              <a:srgbClr val="163A5F">
                <a:alpha val="0"/>
              </a:srgbClr>
            </a:solidFill>
            <a:prstDash val="solid"/>
          </a:ln>
        </p:spPr>
        <p:txBody>
          <a:bodyPr/>
          <a:lstStyle/>
          <a:p>
            <a:endParaRPr lang="en-US"/>
          </a:p>
        </p:txBody>
      </p:sp>
      <p:sp>
        <p:nvSpPr>
          <p:cNvPr id="3" name="Text 1"/>
          <p:cNvSpPr/>
          <p:nvPr/>
        </p:nvSpPr>
        <p:spPr>
          <a:xfrm>
            <a:off x="365760" y="109728"/>
            <a:ext cx="9875520" cy="2286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12-month implementation roadmap</a:t>
            </a:r>
            <a:endParaRPr lang="en-US" sz="2200" dirty="0"/>
          </a:p>
        </p:txBody>
      </p:sp>
      <p:sp>
        <p:nvSpPr>
          <p:cNvPr id="4" name="Text 2"/>
          <p:cNvSpPr/>
          <p:nvPr/>
        </p:nvSpPr>
        <p:spPr>
          <a:xfrm>
            <a:off x="9738360" y="118872"/>
            <a:ext cx="2011680" cy="182880"/>
          </a:xfrm>
          <a:prstGeom prst="rect">
            <a:avLst/>
          </a:prstGeom>
          <a:noFill/>
          <a:ln/>
        </p:spPr>
        <p:txBody>
          <a:bodyPr wrap="square" lIns="0" tIns="0" rIns="0" bIns="0" rtlCol="0" anchor="ctr"/>
          <a:lstStyle/>
          <a:p>
            <a:pPr marL="0" indent="0" algn="r">
              <a:buNone/>
            </a:pPr>
            <a:r>
              <a:rPr lang="en-US" sz="1000" dirty="0">
                <a:solidFill>
                  <a:srgbClr val="DCE6F1"/>
                </a:solidFill>
              </a:rPr>
              <a:t>A controlled sequence with stage gates</a:t>
            </a:r>
            <a:endParaRPr lang="en-US" sz="1000" dirty="0"/>
          </a:p>
        </p:txBody>
      </p:sp>
      <p:sp>
        <p:nvSpPr>
          <p:cNvPr id="5" name="Shape 3"/>
          <p:cNvSpPr/>
          <p:nvPr/>
        </p:nvSpPr>
        <p:spPr>
          <a:xfrm>
            <a:off x="502920" y="1920240"/>
            <a:ext cx="2148840" cy="1417320"/>
          </a:xfrm>
          <a:prstGeom prst="roundRect">
            <a:avLst>
              <a:gd name="adj" fmla="val 5161"/>
            </a:avLst>
          </a:prstGeom>
          <a:solidFill>
            <a:srgbClr val="EEF5FB"/>
          </a:solidFill>
          <a:ln w="12700">
            <a:solidFill>
              <a:srgbClr val="CBD5E1"/>
            </a:solidFill>
            <a:prstDash val="solid"/>
          </a:ln>
        </p:spPr>
        <p:txBody>
          <a:bodyPr/>
          <a:lstStyle/>
          <a:p>
            <a:endParaRPr lang="en-US"/>
          </a:p>
        </p:txBody>
      </p:sp>
      <p:sp>
        <p:nvSpPr>
          <p:cNvPr id="6" name="Text 4"/>
          <p:cNvSpPr/>
          <p:nvPr/>
        </p:nvSpPr>
        <p:spPr>
          <a:xfrm>
            <a:off x="612648" y="1993392"/>
            <a:ext cx="1929384" cy="164592"/>
          </a:xfrm>
          <a:prstGeom prst="rect">
            <a:avLst/>
          </a:prstGeom>
          <a:noFill/>
          <a:ln/>
        </p:spPr>
        <p:txBody>
          <a:bodyPr wrap="square" lIns="0" tIns="0" rIns="0" bIns="0" rtlCol="0" anchor="ctr"/>
          <a:lstStyle/>
          <a:p>
            <a:pPr marL="0" indent="0" algn="l">
              <a:buNone/>
            </a:pPr>
            <a:r>
              <a:rPr lang="en-US" sz="1600" b="1" dirty="0">
                <a:solidFill>
                  <a:srgbClr val="163A5F"/>
                </a:solidFill>
              </a:rPr>
              <a:t>1. Discover and scope</a:t>
            </a:r>
            <a:endParaRPr lang="en-US" sz="1600" dirty="0"/>
          </a:p>
        </p:txBody>
      </p:sp>
      <p:sp>
        <p:nvSpPr>
          <p:cNvPr id="7" name="Text 5"/>
          <p:cNvSpPr/>
          <p:nvPr/>
        </p:nvSpPr>
        <p:spPr>
          <a:xfrm>
            <a:off x="612648" y="2329962"/>
            <a:ext cx="1929384" cy="952734"/>
          </a:xfrm>
          <a:prstGeom prst="rect">
            <a:avLst/>
          </a:prstGeom>
          <a:noFill/>
          <a:ln/>
        </p:spPr>
        <p:txBody>
          <a:bodyPr wrap="square" lIns="254" tIns="254" rIns="254" bIns="254" rtlCol="0" anchor="t">
            <a:normAutofit/>
          </a:bodyPr>
          <a:lstStyle/>
          <a:p>
            <a:pPr marL="0" indent="0">
              <a:buNone/>
            </a:pPr>
            <a:r>
              <a:rPr lang="en-US" sz="1400" dirty="0">
                <a:solidFill>
                  <a:srgbClr val="1F2937"/>
                </a:solidFill>
              </a:rPr>
              <a:t>Month 1-2</a:t>
            </a:r>
            <a:endParaRPr lang="en-US" sz="1400" dirty="0"/>
          </a:p>
          <a:p>
            <a:pPr marL="0" indent="0">
              <a:buNone/>
            </a:pPr>
            <a:r>
              <a:rPr lang="en-US" sz="1400" dirty="0">
                <a:solidFill>
                  <a:srgbClr val="1F2937"/>
                </a:solidFill>
              </a:rPr>
              <a:t>Process map, data assessment, governance setup</a:t>
            </a:r>
            <a:endParaRPr lang="en-US" sz="1400" dirty="0"/>
          </a:p>
        </p:txBody>
      </p:sp>
      <p:sp>
        <p:nvSpPr>
          <p:cNvPr id="8" name="Shape 6"/>
          <p:cNvSpPr/>
          <p:nvPr/>
        </p:nvSpPr>
        <p:spPr>
          <a:xfrm>
            <a:off x="2651760" y="2624328"/>
            <a:ext cx="137160" cy="0"/>
          </a:xfrm>
          <a:prstGeom prst="line">
            <a:avLst/>
          </a:prstGeom>
          <a:noFill/>
          <a:ln w="12700">
            <a:solidFill>
              <a:srgbClr val="6B7280"/>
            </a:solidFill>
            <a:prstDash val="solid"/>
            <a:tailEnd type="triangle"/>
          </a:ln>
        </p:spPr>
        <p:txBody>
          <a:bodyPr/>
          <a:lstStyle/>
          <a:p>
            <a:endParaRPr lang="en-US"/>
          </a:p>
        </p:txBody>
      </p:sp>
      <p:sp>
        <p:nvSpPr>
          <p:cNvPr id="9" name="Shape 7"/>
          <p:cNvSpPr/>
          <p:nvPr/>
        </p:nvSpPr>
        <p:spPr>
          <a:xfrm>
            <a:off x="2743200" y="1920240"/>
            <a:ext cx="2148840" cy="1417320"/>
          </a:xfrm>
          <a:prstGeom prst="roundRect">
            <a:avLst>
              <a:gd name="adj" fmla="val 5161"/>
            </a:avLst>
          </a:prstGeom>
          <a:solidFill>
            <a:srgbClr val="EEF5FB"/>
          </a:solidFill>
          <a:ln w="12700">
            <a:solidFill>
              <a:srgbClr val="CBD5E1"/>
            </a:solidFill>
            <a:prstDash val="solid"/>
          </a:ln>
        </p:spPr>
        <p:txBody>
          <a:bodyPr/>
          <a:lstStyle/>
          <a:p>
            <a:endParaRPr lang="en-US"/>
          </a:p>
        </p:txBody>
      </p:sp>
      <p:sp>
        <p:nvSpPr>
          <p:cNvPr id="10" name="Text 8"/>
          <p:cNvSpPr/>
          <p:nvPr/>
        </p:nvSpPr>
        <p:spPr>
          <a:xfrm>
            <a:off x="2852928" y="1993392"/>
            <a:ext cx="1929384" cy="336570"/>
          </a:xfrm>
          <a:prstGeom prst="rect">
            <a:avLst/>
          </a:prstGeom>
          <a:noFill/>
          <a:ln/>
        </p:spPr>
        <p:txBody>
          <a:bodyPr wrap="square" lIns="0" tIns="0" rIns="0" bIns="0" rtlCol="0" anchor="ctr"/>
          <a:lstStyle/>
          <a:p>
            <a:pPr marL="0" indent="0" algn="l">
              <a:buNone/>
            </a:pPr>
            <a:r>
              <a:rPr lang="en-US" sz="1600" b="1" dirty="0">
                <a:solidFill>
                  <a:srgbClr val="163A5F"/>
                </a:solidFill>
              </a:rPr>
              <a:t>2. Fit-to-standard design</a:t>
            </a:r>
            <a:endParaRPr lang="en-US" sz="1600" dirty="0"/>
          </a:p>
        </p:txBody>
      </p:sp>
      <p:sp>
        <p:nvSpPr>
          <p:cNvPr id="11" name="Text 9"/>
          <p:cNvSpPr/>
          <p:nvPr/>
        </p:nvSpPr>
        <p:spPr>
          <a:xfrm>
            <a:off x="2852928" y="2532186"/>
            <a:ext cx="1929384" cy="750509"/>
          </a:xfrm>
          <a:prstGeom prst="rect">
            <a:avLst/>
          </a:prstGeom>
          <a:noFill/>
          <a:ln/>
        </p:spPr>
        <p:txBody>
          <a:bodyPr wrap="square" lIns="254" tIns="254" rIns="254" bIns="254" rtlCol="0" anchor="t">
            <a:normAutofit/>
          </a:bodyPr>
          <a:lstStyle/>
          <a:p>
            <a:pPr marL="0" indent="0">
              <a:buNone/>
            </a:pPr>
            <a:r>
              <a:rPr lang="en-US" sz="1400" dirty="0">
                <a:solidFill>
                  <a:srgbClr val="1F2937"/>
                </a:solidFill>
              </a:rPr>
              <a:t>Month 3-4</a:t>
            </a:r>
            <a:endParaRPr lang="en-US" sz="1400" dirty="0"/>
          </a:p>
          <a:p>
            <a:pPr marL="0" indent="0">
              <a:buNone/>
            </a:pPr>
            <a:r>
              <a:rPr lang="en-US" sz="1400" dirty="0">
                <a:solidFill>
                  <a:srgbClr val="1F2937"/>
                </a:solidFill>
              </a:rPr>
              <a:t>Define Day-1 scope and deltas</a:t>
            </a:r>
            <a:endParaRPr lang="en-US" sz="1400" dirty="0"/>
          </a:p>
        </p:txBody>
      </p:sp>
      <p:sp>
        <p:nvSpPr>
          <p:cNvPr id="12" name="Shape 10"/>
          <p:cNvSpPr/>
          <p:nvPr/>
        </p:nvSpPr>
        <p:spPr>
          <a:xfrm>
            <a:off x="4892040" y="2624328"/>
            <a:ext cx="137160" cy="0"/>
          </a:xfrm>
          <a:prstGeom prst="line">
            <a:avLst/>
          </a:prstGeom>
          <a:noFill/>
          <a:ln w="12700">
            <a:solidFill>
              <a:srgbClr val="6B7280"/>
            </a:solidFill>
            <a:prstDash val="solid"/>
            <a:tailEnd type="triangle"/>
          </a:ln>
        </p:spPr>
        <p:txBody>
          <a:bodyPr/>
          <a:lstStyle/>
          <a:p>
            <a:endParaRPr lang="en-US"/>
          </a:p>
        </p:txBody>
      </p:sp>
      <p:sp>
        <p:nvSpPr>
          <p:cNvPr id="13" name="Shape 11"/>
          <p:cNvSpPr/>
          <p:nvPr/>
        </p:nvSpPr>
        <p:spPr>
          <a:xfrm>
            <a:off x="4983480" y="1920240"/>
            <a:ext cx="2148840" cy="1417320"/>
          </a:xfrm>
          <a:prstGeom prst="roundRect">
            <a:avLst>
              <a:gd name="adj" fmla="val 5161"/>
            </a:avLst>
          </a:prstGeom>
          <a:solidFill>
            <a:srgbClr val="EEF5FB"/>
          </a:solidFill>
          <a:ln w="12700">
            <a:solidFill>
              <a:srgbClr val="CBD5E1"/>
            </a:solidFill>
            <a:prstDash val="solid"/>
          </a:ln>
        </p:spPr>
        <p:txBody>
          <a:bodyPr/>
          <a:lstStyle/>
          <a:p>
            <a:endParaRPr lang="en-US"/>
          </a:p>
        </p:txBody>
      </p:sp>
      <p:sp>
        <p:nvSpPr>
          <p:cNvPr id="14" name="Text 12"/>
          <p:cNvSpPr/>
          <p:nvPr/>
        </p:nvSpPr>
        <p:spPr>
          <a:xfrm>
            <a:off x="5093208" y="1993392"/>
            <a:ext cx="1929384" cy="164592"/>
          </a:xfrm>
          <a:prstGeom prst="rect">
            <a:avLst/>
          </a:prstGeom>
          <a:noFill/>
          <a:ln/>
        </p:spPr>
        <p:txBody>
          <a:bodyPr wrap="square" lIns="0" tIns="0" rIns="0" bIns="0" rtlCol="0" anchor="ctr"/>
          <a:lstStyle/>
          <a:p>
            <a:pPr marL="0" indent="0" algn="l">
              <a:buNone/>
            </a:pPr>
            <a:r>
              <a:rPr lang="en-US" sz="1600" b="1" dirty="0">
                <a:solidFill>
                  <a:srgbClr val="163A5F"/>
                </a:solidFill>
              </a:rPr>
              <a:t>3. Build and test</a:t>
            </a:r>
            <a:endParaRPr lang="en-US" sz="1600" dirty="0"/>
          </a:p>
        </p:txBody>
      </p:sp>
      <p:sp>
        <p:nvSpPr>
          <p:cNvPr id="15" name="Text 13"/>
          <p:cNvSpPr/>
          <p:nvPr/>
        </p:nvSpPr>
        <p:spPr>
          <a:xfrm>
            <a:off x="5093208" y="2400300"/>
            <a:ext cx="1929384" cy="882395"/>
          </a:xfrm>
          <a:prstGeom prst="rect">
            <a:avLst/>
          </a:prstGeom>
          <a:noFill/>
          <a:ln/>
        </p:spPr>
        <p:txBody>
          <a:bodyPr wrap="square" lIns="254" tIns="254" rIns="254" bIns="254" rtlCol="0" anchor="t">
            <a:normAutofit/>
          </a:bodyPr>
          <a:lstStyle/>
          <a:p>
            <a:pPr marL="0" indent="0">
              <a:buNone/>
            </a:pPr>
            <a:r>
              <a:rPr lang="en-US" sz="1400" dirty="0">
                <a:solidFill>
                  <a:srgbClr val="1F2937"/>
                </a:solidFill>
              </a:rPr>
              <a:t>Month 5-7</a:t>
            </a:r>
            <a:endParaRPr lang="en-US" sz="1400" dirty="0"/>
          </a:p>
          <a:p>
            <a:pPr marL="0" indent="0">
              <a:buNone/>
            </a:pPr>
            <a:r>
              <a:rPr lang="en-US" sz="1400" dirty="0">
                <a:solidFill>
                  <a:srgbClr val="1F2937"/>
                </a:solidFill>
              </a:rPr>
              <a:t>Configure, migrate, integrate, and test</a:t>
            </a:r>
            <a:endParaRPr lang="en-US" sz="1400" dirty="0"/>
          </a:p>
        </p:txBody>
      </p:sp>
      <p:sp>
        <p:nvSpPr>
          <p:cNvPr id="16" name="Shape 14"/>
          <p:cNvSpPr/>
          <p:nvPr/>
        </p:nvSpPr>
        <p:spPr>
          <a:xfrm>
            <a:off x="7132320" y="2624328"/>
            <a:ext cx="137160" cy="0"/>
          </a:xfrm>
          <a:prstGeom prst="line">
            <a:avLst/>
          </a:prstGeom>
          <a:noFill/>
          <a:ln w="12700">
            <a:solidFill>
              <a:srgbClr val="6B7280"/>
            </a:solidFill>
            <a:prstDash val="solid"/>
            <a:tailEnd type="triangle"/>
          </a:ln>
        </p:spPr>
        <p:txBody>
          <a:bodyPr/>
          <a:lstStyle/>
          <a:p>
            <a:endParaRPr lang="en-US"/>
          </a:p>
        </p:txBody>
      </p:sp>
      <p:sp>
        <p:nvSpPr>
          <p:cNvPr id="17" name="Shape 15"/>
          <p:cNvSpPr/>
          <p:nvPr/>
        </p:nvSpPr>
        <p:spPr>
          <a:xfrm>
            <a:off x="7223760" y="1920240"/>
            <a:ext cx="2148840" cy="1417320"/>
          </a:xfrm>
          <a:prstGeom prst="roundRect">
            <a:avLst>
              <a:gd name="adj" fmla="val 5161"/>
            </a:avLst>
          </a:prstGeom>
          <a:solidFill>
            <a:srgbClr val="ECFDF5"/>
          </a:solidFill>
          <a:ln w="12700">
            <a:solidFill>
              <a:srgbClr val="A7D8C3"/>
            </a:solidFill>
            <a:prstDash val="solid"/>
          </a:ln>
        </p:spPr>
        <p:txBody>
          <a:bodyPr/>
          <a:lstStyle/>
          <a:p>
            <a:endParaRPr lang="en-US"/>
          </a:p>
        </p:txBody>
      </p:sp>
      <p:sp>
        <p:nvSpPr>
          <p:cNvPr id="18" name="Text 16"/>
          <p:cNvSpPr/>
          <p:nvPr/>
        </p:nvSpPr>
        <p:spPr>
          <a:xfrm>
            <a:off x="7333488" y="1993392"/>
            <a:ext cx="1929384" cy="164592"/>
          </a:xfrm>
          <a:prstGeom prst="rect">
            <a:avLst/>
          </a:prstGeom>
          <a:noFill/>
          <a:ln/>
        </p:spPr>
        <p:txBody>
          <a:bodyPr wrap="square" lIns="0" tIns="0" rIns="0" bIns="0" rtlCol="0" anchor="ctr"/>
          <a:lstStyle/>
          <a:p>
            <a:pPr marL="0" indent="0" algn="l">
              <a:buNone/>
            </a:pPr>
            <a:r>
              <a:rPr lang="en-US" sz="1600" b="1" dirty="0">
                <a:solidFill>
                  <a:srgbClr val="2E7D32"/>
                </a:solidFill>
              </a:rPr>
              <a:t>4. Pilot site go-live</a:t>
            </a:r>
            <a:endParaRPr lang="en-US" sz="1600" dirty="0"/>
          </a:p>
        </p:txBody>
      </p:sp>
      <p:sp>
        <p:nvSpPr>
          <p:cNvPr id="19" name="Text 17"/>
          <p:cNvSpPr/>
          <p:nvPr/>
        </p:nvSpPr>
        <p:spPr>
          <a:xfrm>
            <a:off x="7333488" y="2400300"/>
            <a:ext cx="1929384" cy="882396"/>
          </a:xfrm>
          <a:prstGeom prst="rect">
            <a:avLst/>
          </a:prstGeom>
          <a:noFill/>
          <a:ln/>
        </p:spPr>
        <p:txBody>
          <a:bodyPr wrap="square" lIns="254" tIns="254" rIns="254" bIns="254" rtlCol="0" anchor="t">
            <a:normAutofit/>
          </a:bodyPr>
          <a:lstStyle/>
          <a:p>
            <a:pPr marL="0" indent="0">
              <a:buNone/>
            </a:pPr>
            <a:r>
              <a:rPr lang="en-US" sz="1400" dirty="0">
                <a:solidFill>
                  <a:srgbClr val="1F2937"/>
                </a:solidFill>
              </a:rPr>
              <a:t>Month 8-9</a:t>
            </a:r>
            <a:endParaRPr lang="en-US" sz="1400" dirty="0"/>
          </a:p>
          <a:p>
            <a:pPr marL="0" indent="0">
              <a:buNone/>
            </a:pPr>
            <a:r>
              <a:rPr lang="en-US" sz="1400" dirty="0">
                <a:solidFill>
                  <a:srgbClr val="1F2937"/>
                </a:solidFill>
              </a:rPr>
              <a:t>Controlled cutover and hypercare</a:t>
            </a:r>
            <a:endParaRPr lang="en-US" sz="1400" dirty="0"/>
          </a:p>
        </p:txBody>
      </p:sp>
      <p:sp>
        <p:nvSpPr>
          <p:cNvPr id="20" name="Shape 18"/>
          <p:cNvSpPr/>
          <p:nvPr/>
        </p:nvSpPr>
        <p:spPr>
          <a:xfrm>
            <a:off x="9372600" y="2624328"/>
            <a:ext cx="137160" cy="0"/>
          </a:xfrm>
          <a:prstGeom prst="line">
            <a:avLst/>
          </a:prstGeom>
          <a:noFill/>
          <a:ln w="12700">
            <a:solidFill>
              <a:srgbClr val="6B7280"/>
            </a:solidFill>
            <a:prstDash val="solid"/>
            <a:tailEnd type="triangle"/>
          </a:ln>
        </p:spPr>
        <p:txBody>
          <a:bodyPr/>
          <a:lstStyle/>
          <a:p>
            <a:endParaRPr lang="en-US"/>
          </a:p>
        </p:txBody>
      </p:sp>
      <p:sp>
        <p:nvSpPr>
          <p:cNvPr id="21" name="Shape 19"/>
          <p:cNvSpPr/>
          <p:nvPr/>
        </p:nvSpPr>
        <p:spPr>
          <a:xfrm>
            <a:off x="9555480" y="1920240"/>
            <a:ext cx="2194560" cy="1417320"/>
          </a:xfrm>
          <a:prstGeom prst="roundRect">
            <a:avLst>
              <a:gd name="adj" fmla="val 5161"/>
            </a:avLst>
          </a:prstGeom>
          <a:solidFill>
            <a:srgbClr val="F3F4F6"/>
          </a:solidFill>
          <a:ln w="12700">
            <a:solidFill>
              <a:srgbClr val="CBD5E1"/>
            </a:solidFill>
            <a:prstDash val="solid"/>
          </a:ln>
        </p:spPr>
        <p:txBody>
          <a:bodyPr/>
          <a:lstStyle/>
          <a:p>
            <a:endParaRPr lang="en-US"/>
          </a:p>
        </p:txBody>
      </p:sp>
      <p:sp>
        <p:nvSpPr>
          <p:cNvPr id="22" name="Text 20"/>
          <p:cNvSpPr/>
          <p:nvPr/>
        </p:nvSpPr>
        <p:spPr>
          <a:xfrm>
            <a:off x="9665208" y="1993392"/>
            <a:ext cx="1975104" cy="164592"/>
          </a:xfrm>
          <a:prstGeom prst="rect">
            <a:avLst/>
          </a:prstGeom>
          <a:noFill/>
          <a:ln/>
        </p:spPr>
        <p:txBody>
          <a:bodyPr wrap="square" lIns="0" tIns="0" rIns="0" bIns="0" rtlCol="0" anchor="ctr"/>
          <a:lstStyle/>
          <a:p>
            <a:pPr marL="0" indent="0" algn="l">
              <a:buNone/>
            </a:pPr>
            <a:r>
              <a:rPr lang="en-US" sz="1600" b="1" dirty="0">
                <a:solidFill>
                  <a:srgbClr val="163A5F"/>
                </a:solidFill>
              </a:rPr>
              <a:t>5. Rollout and stabilise</a:t>
            </a:r>
            <a:endParaRPr lang="en-US" sz="1600" dirty="0"/>
          </a:p>
        </p:txBody>
      </p:sp>
      <p:sp>
        <p:nvSpPr>
          <p:cNvPr id="23" name="Text 21"/>
          <p:cNvSpPr/>
          <p:nvPr/>
        </p:nvSpPr>
        <p:spPr>
          <a:xfrm>
            <a:off x="9665208" y="2365130"/>
            <a:ext cx="1975104" cy="917565"/>
          </a:xfrm>
          <a:prstGeom prst="rect">
            <a:avLst/>
          </a:prstGeom>
          <a:noFill/>
          <a:ln/>
        </p:spPr>
        <p:txBody>
          <a:bodyPr wrap="square" lIns="254" tIns="254" rIns="254" bIns="254" rtlCol="0" anchor="t">
            <a:normAutofit/>
          </a:bodyPr>
          <a:lstStyle/>
          <a:p>
            <a:pPr marL="0" indent="0">
              <a:buNone/>
            </a:pPr>
            <a:r>
              <a:rPr lang="en-US" sz="1400" dirty="0">
                <a:solidFill>
                  <a:srgbClr val="1F2937"/>
                </a:solidFill>
              </a:rPr>
              <a:t>Month 10-12</a:t>
            </a:r>
            <a:endParaRPr lang="en-US" sz="1400" dirty="0"/>
          </a:p>
          <a:p>
            <a:pPr marL="0" indent="0">
              <a:buNone/>
            </a:pPr>
            <a:r>
              <a:rPr lang="en-US" sz="1400" dirty="0">
                <a:solidFill>
                  <a:srgbClr val="1F2937"/>
                </a:solidFill>
              </a:rPr>
              <a:t>Expand to remaining locations</a:t>
            </a:r>
            <a:endParaRPr lang="en-US" sz="1400" dirty="0"/>
          </a:p>
        </p:txBody>
      </p:sp>
      <p:sp>
        <p:nvSpPr>
          <p:cNvPr id="24" name="Shape 22"/>
          <p:cNvSpPr/>
          <p:nvPr/>
        </p:nvSpPr>
        <p:spPr>
          <a:xfrm>
            <a:off x="777240" y="4069080"/>
            <a:ext cx="10789920" cy="914400"/>
          </a:xfrm>
          <a:prstGeom prst="roundRect">
            <a:avLst>
              <a:gd name="adj" fmla="val 8000"/>
            </a:avLst>
          </a:prstGeom>
          <a:solidFill>
            <a:srgbClr val="FFFFFF"/>
          </a:solidFill>
          <a:ln w="12700">
            <a:solidFill>
              <a:srgbClr val="CBD5E1"/>
            </a:solidFill>
            <a:prstDash val="solid"/>
          </a:ln>
        </p:spPr>
        <p:txBody>
          <a:bodyPr/>
          <a:lstStyle/>
          <a:p>
            <a:endParaRPr lang="en-US"/>
          </a:p>
        </p:txBody>
      </p:sp>
      <p:sp>
        <p:nvSpPr>
          <p:cNvPr id="25" name="Text 23"/>
          <p:cNvSpPr/>
          <p:nvPr/>
        </p:nvSpPr>
        <p:spPr>
          <a:xfrm>
            <a:off x="886968" y="4142232"/>
            <a:ext cx="10570464" cy="164592"/>
          </a:xfrm>
          <a:prstGeom prst="rect">
            <a:avLst/>
          </a:prstGeom>
          <a:noFill/>
          <a:ln/>
        </p:spPr>
        <p:txBody>
          <a:bodyPr wrap="square" lIns="0" tIns="0" rIns="0" bIns="0" rtlCol="0" anchor="ctr"/>
          <a:lstStyle/>
          <a:p>
            <a:pPr marL="0" indent="0" algn="l">
              <a:buNone/>
            </a:pPr>
            <a:r>
              <a:rPr lang="en-US" sz="2000" b="1" dirty="0">
                <a:solidFill>
                  <a:srgbClr val="163A5F"/>
                </a:solidFill>
              </a:rPr>
              <a:t>Stage gates</a:t>
            </a:r>
            <a:endParaRPr lang="en-US" sz="2000" dirty="0"/>
          </a:p>
        </p:txBody>
      </p:sp>
      <p:sp>
        <p:nvSpPr>
          <p:cNvPr id="26" name="Text 24"/>
          <p:cNvSpPr/>
          <p:nvPr/>
        </p:nvSpPr>
        <p:spPr>
          <a:xfrm>
            <a:off x="886968" y="4343400"/>
            <a:ext cx="10570464" cy="585216"/>
          </a:xfrm>
          <a:prstGeom prst="rect">
            <a:avLst/>
          </a:prstGeom>
          <a:noFill/>
          <a:ln/>
        </p:spPr>
        <p:txBody>
          <a:bodyPr wrap="square" lIns="254" tIns="254" rIns="254" bIns="254" rtlCol="0" anchor="t">
            <a:normAutofit/>
          </a:bodyPr>
          <a:lstStyle/>
          <a:p>
            <a:pPr marL="0" indent="0">
              <a:buNone/>
            </a:pPr>
            <a:r>
              <a:rPr lang="en-US" dirty="0">
                <a:solidFill>
                  <a:srgbClr val="1F2937"/>
                </a:solidFill>
              </a:rPr>
              <a:t>Scope sign-off -&gt; design sign-off -&gt; data readiness -&gt; cutover rehearsal -&gt; go/no-go decision</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163A5F"/>
          </a:solidFill>
          <a:ln w="12700">
            <a:solidFill>
              <a:srgbClr val="163A5F">
                <a:alpha val="0"/>
              </a:srgbClr>
            </a:solidFill>
            <a:prstDash val="solid"/>
          </a:ln>
        </p:spPr>
        <p:txBody>
          <a:bodyPr/>
          <a:lstStyle/>
          <a:p>
            <a:endParaRPr lang="en-US"/>
          </a:p>
        </p:txBody>
      </p:sp>
      <p:sp>
        <p:nvSpPr>
          <p:cNvPr id="3" name="Text 1"/>
          <p:cNvSpPr/>
          <p:nvPr/>
        </p:nvSpPr>
        <p:spPr>
          <a:xfrm>
            <a:off x="365760" y="109728"/>
            <a:ext cx="9875520" cy="2286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Governance and operating model</a:t>
            </a:r>
            <a:endParaRPr lang="en-US" sz="2200" dirty="0"/>
          </a:p>
        </p:txBody>
      </p:sp>
      <p:sp>
        <p:nvSpPr>
          <p:cNvPr id="4" name="Text 2"/>
          <p:cNvSpPr/>
          <p:nvPr/>
        </p:nvSpPr>
        <p:spPr>
          <a:xfrm>
            <a:off x="9738360" y="118872"/>
            <a:ext cx="2011680" cy="182880"/>
          </a:xfrm>
          <a:prstGeom prst="rect">
            <a:avLst/>
          </a:prstGeom>
          <a:noFill/>
          <a:ln/>
        </p:spPr>
        <p:txBody>
          <a:bodyPr wrap="square" lIns="0" tIns="0" rIns="0" bIns="0" rtlCol="0" anchor="ctr"/>
          <a:lstStyle/>
          <a:p>
            <a:pPr marL="0" indent="0" algn="r">
              <a:buNone/>
            </a:pPr>
            <a:r>
              <a:rPr lang="en-US" sz="1000" dirty="0">
                <a:solidFill>
                  <a:srgbClr val="DCE6F1"/>
                </a:solidFill>
              </a:rPr>
              <a:t>Who owns what during the programme</a:t>
            </a:r>
            <a:endParaRPr lang="en-US" sz="1000" dirty="0"/>
          </a:p>
        </p:txBody>
      </p:sp>
      <p:sp>
        <p:nvSpPr>
          <p:cNvPr id="5" name="Shape 3"/>
          <p:cNvSpPr/>
          <p:nvPr/>
        </p:nvSpPr>
        <p:spPr>
          <a:xfrm>
            <a:off x="4389120" y="868680"/>
            <a:ext cx="3383280" cy="822960"/>
          </a:xfrm>
          <a:prstGeom prst="roundRect">
            <a:avLst>
              <a:gd name="adj" fmla="val 8889"/>
            </a:avLst>
          </a:prstGeom>
          <a:solidFill>
            <a:srgbClr val="163A5F"/>
          </a:solidFill>
          <a:ln w="12700">
            <a:solidFill>
              <a:srgbClr val="163A5F"/>
            </a:solidFill>
            <a:prstDash val="solid"/>
          </a:ln>
        </p:spPr>
        <p:txBody>
          <a:bodyPr/>
          <a:lstStyle/>
          <a:p>
            <a:endParaRPr lang="en-US" dirty="0"/>
          </a:p>
        </p:txBody>
      </p:sp>
      <p:sp>
        <p:nvSpPr>
          <p:cNvPr id="6" name="Text 4"/>
          <p:cNvSpPr/>
          <p:nvPr/>
        </p:nvSpPr>
        <p:spPr>
          <a:xfrm>
            <a:off x="4498848" y="941832"/>
            <a:ext cx="3163824" cy="164592"/>
          </a:xfrm>
          <a:prstGeom prst="rect">
            <a:avLst/>
          </a:prstGeom>
          <a:noFill/>
          <a:ln/>
        </p:spPr>
        <p:txBody>
          <a:bodyPr wrap="square" lIns="0" tIns="0" rIns="0" bIns="0" rtlCol="0" anchor="ctr"/>
          <a:lstStyle/>
          <a:p>
            <a:pPr marL="0" indent="0" algn="l">
              <a:buNone/>
            </a:pPr>
            <a:r>
              <a:rPr lang="en-US" b="1" dirty="0">
                <a:solidFill>
                  <a:srgbClr val="FFFFFF"/>
                </a:solidFill>
              </a:rPr>
              <a:t>Executive Steering Committee</a:t>
            </a:r>
            <a:endParaRPr lang="en-US" dirty="0"/>
          </a:p>
        </p:txBody>
      </p:sp>
      <p:sp>
        <p:nvSpPr>
          <p:cNvPr id="7" name="Text 5"/>
          <p:cNvSpPr/>
          <p:nvPr/>
        </p:nvSpPr>
        <p:spPr>
          <a:xfrm>
            <a:off x="4498848" y="1143000"/>
            <a:ext cx="3163824" cy="493776"/>
          </a:xfrm>
          <a:prstGeom prst="rect">
            <a:avLst/>
          </a:prstGeom>
          <a:noFill/>
          <a:ln/>
        </p:spPr>
        <p:txBody>
          <a:bodyPr wrap="square" lIns="254" tIns="254" rIns="254" bIns="254" rtlCol="0" anchor="t">
            <a:normAutofit/>
          </a:bodyPr>
          <a:lstStyle/>
          <a:p>
            <a:pPr marL="0" indent="0">
              <a:buNone/>
            </a:pPr>
            <a:r>
              <a:rPr lang="en-US" sz="1400" dirty="0">
                <a:solidFill>
                  <a:schemeClr val="bg2">
                    <a:lumMod val="90000"/>
                  </a:schemeClr>
                </a:solidFill>
              </a:rPr>
              <a:t>Board-level sponsorship, decisions, escalation</a:t>
            </a:r>
          </a:p>
        </p:txBody>
      </p:sp>
      <p:sp>
        <p:nvSpPr>
          <p:cNvPr id="8" name="Shape 6"/>
          <p:cNvSpPr/>
          <p:nvPr/>
        </p:nvSpPr>
        <p:spPr>
          <a:xfrm>
            <a:off x="822960" y="2011680"/>
            <a:ext cx="2377440" cy="822960"/>
          </a:xfrm>
          <a:prstGeom prst="roundRect">
            <a:avLst>
              <a:gd name="adj" fmla="val 8889"/>
            </a:avLst>
          </a:prstGeom>
          <a:solidFill>
            <a:srgbClr val="EEF5FB"/>
          </a:solidFill>
          <a:ln w="12700">
            <a:solidFill>
              <a:srgbClr val="CBD5E1"/>
            </a:solidFill>
            <a:prstDash val="solid"/>
          </a:ln>
        </p:spPr>
        <p:txBody>
          <a:bodyPr/>
          <a:lstStyle/>
          <a:p>
            <a:endParaRPr lang="en-US"/>
          </a:p>
        </p:txBody>
      </p:sp>
      <p:sp>
        <p:nvSpPr>
          <p:cNvPr id="9" name="Text 7"/>
          <p:cNvSpPr/>
          <p:nvPr/>
        </p:nvSpPr>
        <p:spPr>
          <a:xfrm>
            <a:off x="932688" y="2084832"/>
            <a:ext cx="2157984" cy="164592"/>
          </a:xfrm>
          <a:prstGeom prst="rect">
            <a:avLst/>
          </a:prstGeom>
          <a:noFill/>
          <a:ln/>
        </p:spPr>
        <p:txBody>
          <a:bodyPr wrap="square" lIns="0" tIns="0" rIns="0" bIns="0" rtlCol="0" anchor="ctr"/>
          <a:lstStyle/>
          <a:p>
            <a:pPr marL="0" indent="0" algn="l">
              <a:buNone/>
            </a:pPr>
            <a:r>
              <a:rPr lang="en-US" sz="1400" b="1" dirty="0">
                <a:solidFill>
                  <a:srgbClr val="163A5F"/>
                </a:solidFill>
              </a:rPr>
              <a:t>PMO</a:t>
            </a:r>
            <a:endParaRPr lang="en-US" sz="1400" dirty="0"/>
          </a:p>
        </p:txBody>
      </p:sp>
      <p:sp>
        <p:nvSpPr>
          <p:cNvPr id="10" name="Text 8"/>
          <p:cNvSpPr/>
          <p:nvPr/>
        </p:nvSpPr>
        <p:spPr>
          <a:xfrm>
            <a:off x="932688" y="2286000"/>
            <a:ext cx="2157984" cy="493776"/>
          </a:xfrm>
          <a:prstGeom prst="rect">
            <a:avLst/>
          </a:prstGeom>
          <a:noFill/>
          <a:ln/>
        </p:spPr>
        <p:txBody>
          <a:bodyPr wrap="square" lIns="254" tIns="254" rIns="254" bIns="254" rtlCol="0" anchor="t">
            <a:normAutofit/>
          </a:bodyPr>
          <a:lstStyle/>
          <a:p>
            <a:pPr marL="0" indent="0">
              <a:buNone/>
            </a:pPr>
            <a:r>
              <a:rPr lang="en-US" sz="1300" dirty="0">
                <a:solidFill>
                  <a:srgbClr val="1F2937"/>
                </a:solidFill>
              </a:rPr>
              <a:t>Plan, status, budget, RAID log</a:t>
            </a:r>
            <a:endParaRPr lang="en-US" sz="1300" dirty="0"/>
          </a:p>
        </p:txBody>
      </p:sp>
      <p:sp>
        <p:nvSpPr>
          <p:cNvPr id="11" name="Shape 9"/>
          <p:cNvSpPr/>
          <p:nvPr/>
        </p:nvSpPr>
        <p:spPr>
          <a:xfrm>
            <a:off x="3566160" y="2011680"/>
            <a:ext cx="2377440" cy="822960"/>
          </a:xfrm>
          <a:prstGeom prst="roundRect">
            <a:avLst>
              <a:gd name="adj" fmla="val 8889"/>
            </a:avLst>
          </a:prstGeom>
          <a:solidFill>
            <a:srgbClr val="EEF5FB"/>
          </a:solidFill>
          <a:ln w="12700">
            <a:solidFill>
              <a:srgbClr val="CBD5E1"/>
            </a:solidFill>
            <a:prstDash val="solid"/>
          </a:ln>
        </p:spPr>
        <p:txBody>
          <a:bodyPr/>
          <a:lstStyle/>
          <a:p>
            <a:endParaRPr lang="en-US"/>
          </a:p>
        </p:txBody>
      </p:sp>
      <p:sp>
        <p:nvSpPr>
          <p:cNvPr id="12" name="Text 10"/>
          <p:cNvSpPr/>
          <p:nvPr/>
        </p:nvSpPr>
        <p:spPr>
          <a:xfrm>
            <a:off x="3675888" y="2084832"/>
            <a:ext cx="2157984" cy="164592"/>
          </a:xfrm>
          <a:prstGeom prst="rect">
            <a:avLst/>
          </a:prstGeom>
          <a:noFill/>
          <a:ln/>
        </p:spPr>
        <p:txBody>
          <a:bodyPr wrap="square" lIns="0" tIns="0" rIns="0" bIns="0" rtlCol="0" anchor="ctr"/>
          <a:lstStyle/>
          <a:p>
            <a:pPr marL="0" indent="0" algn="l">
              <a:buNone/>
            </a:pPr>
            <a:r>
              <a:rPr lang="en-US" sz="1400" b="1" dirty="0">
                <a:solidFill>
                  <a:srgbClr val="163A5F"/>
                </a:solidFill>
              </a:rPr>
              <a:t>Business process owners</a:t>
            </a:r>
            <a:endParaRPr lang="en-US" sz="1400" dirty="0"/>
          </a:p>
        </p:txBody>
      </p:sp>
      <p:sp>
        <p:nvSpPr>
          <p:cNvPr id="13" name="Text 11"/>
          <p:cNvSpPr/>
          <p:nvPr/>
        </p:nvSpPr>
        <p:spPr>
          <a:xfrm>
            <a:off x="3675888" y="2286000"/>
            <a:ext cx="2157984" cy="493776"/>
          </a:xfrm>
          <a:prstGeom prst="rect">
            <a:avLst/>
          </a:prstGeom>
          <a:noFill/>
          <a:ln/>
        </p:spPr>
        <p:txBody>
          <a:bodyPr wrap="square" lIns="254" tIns="254" rIns="254" bIns="254" rtlCol="0" anchor="t">
            <a:normAutofit/>
          </a:bodyPr>
          <a:lstStyle/>
          <a:p>
            <a:pPr marL="0" indent="0">
              <a:buNone/>
            </a:pPr>
            <a:r>
              <a:rPr lang="en-US" sz="1300" dirty="0">
                <a:solidFill>
                  <a:srgbClr val="1F2937"/>
                </a:solidFill>
              </a:rPr>
              <a:t>Finance, ops, procurement, engineering</a:t>
            </a:r>
            <a:endParaRPr lang="en-US" sz="1300" dirty="0"/>
          </a:p>
        </p:txBody>
      </p:sp>
      <p:sp>
        <p:nvSpPr>
          <p:cNvPr id="14" name="Shape 12"/>
          <p:cNvSpPr/>
          <p:nvPr/>
        </p:nvSpPr>
        <p:spPr>
          <a:xfrm>
            <a:off x="6400800" y="2011680"/>
            <a:ext cx="2377440" cy="822960"/>
          </a:xfrm>
          <a:prstGeom prst="roundRect">
            <a:avLst>
              <a:gd name="adj" fmla="val 8889"/>
            </a:avLst>
          </a:prstGeom>
          <a:solidFill>
            <a:srgbClr val="EEF5FB"/>
          </a:solidFill>
          <a:ln w="12700">
            <a:solidFill>
              <a:srgbClr val="CBD5E1"/>
            </a:solidFill>
            <a:prstDash val="solid"/>
          </a:ln>
        </p:spPr>
        <p:txBody>
          <a:bodyPr/>
          <a:lstStyle/>
          <a:p>
            <a:endParaRPr lang="en-US"/>
          </a:p>
        </p:txBody>
      </p:sp>
      <p:sp>
        <p:nvSpPr>
          <p:cNvPr id="15" name="Text 13"/>
          <p:cNvSpPr/>
          <p:nvPr/>
        </p:nvSpPr>
        <p:spPr>
          <a:xfrm>
            <a:off x="6510528" y="2084832"/>
            <a:ext cx="2157984" cy="164592"/>
          </a:xfrm>
          <a:prstGeom prst="rect">
            <a:avLst/>
          </a:prstGeom>
          <a:noFill/>
          <a:ln/>
        </p:spPr>
        <p:txBody>
          <a:bodyPr wrap="square" lIns="0" tIns="0" rIns="0" bIns="0" rtlCol="0" anchor="ctr"/>
          <a:lstStyle/>
          <a:p>
            <a:pPr marL="0" indent="0" algn="l">
              <a:buNone/>
            </a:pPr>
            <a:r>
              <a:rPr lang="en-US" sz="1400" b="1" dirty="0">
                <a:solidFill>
                  <a:srgbClr val="163A5F"/>
                </a:solidFill>
              </a:rPr>
              <a:t>Data governance</a:t>
            </a:r>
            <a:endParaRPr lang="en-US" sz="1400" dirty="0"/>
          </a:p>
        </p:txBody>
      </p:sp>
      <p:sp>
        <p:nvSpPr>
          <p:cNvPr id="16" name="Text 14"/>
          <p:cNvSpPr/>
          <p:nvPr/>
        </p:nvSpPr>
        <p:spPr>
          <a:xfrm>
            <a:off x="6510528" y="2286000"/>
            <a:ext cx="2157984" cy="493776"/>
          </a:xfrm>
          <a:prstGeom prst="rect">
            <a:avLst/>
          </a:prstGeom>
          <a:noFill/>
          <a:ln/>
        </p:spPr>
        <p:txBody>
          <a:bodyPr wrap="square" lIns="254" tIns="254" rIns="254" bIns="254" rtlCol="0" anchor="t">
            <a:normAutofit/>
          </a:bodyPr>
          <a:lstStyle/>
          <a:p>
            <a:pPr marL="0" indent="0">
              <a:buNone/>
            </a:pPr>
            <a:r>
              <a:rPr lang="en-US" sz="1300" dirty="0">
                <a:solidFill>
                  <a:srgbClr val="1F2937"/>
                </a:solidFill>
              </a:rPr>
              <a:t>Master data, cleansing, sign-off</a:t>
            </a:r>
            <a:endParaRPr lang="en-US" sz="1300" dirty="0"/>
          </a:p>
        </p:txBody>
      </p:sp>
      <p:sp>
        <p:nvSpPr>
          <p:cNvPr id="17" name="Shape 15"/>
          <p:cNvSpPr/>
          <p:nvPr/>
        </p:nvSpPr>
        <p:spPr>
          <a:xfrm>
            <a:off x="9235440" y="2011680"/>
            <a:ext cx="2011680" cy="822960"/>
          </a:xfrm>
          <a:prstGeom prst="roundRect">
            <a:avLst>
              <a:gd name="adj" fmla="val 8889"/>
            </a:avLst>
          </a:prstGeom>
          <a:solidFill>
            <a:srgbClr val="EEF5FB"/>
          </a:solidFill>
          <a:ln w="12700">
            <a:solidFill>
              <a:srgbClr val="CBD5E1"/>
            </a:solidFill>
            <a:prstDash val="solid"/>
          </a:ln>
        </p:spPr>
        <p:txBody>
          <a:bodyPr/>
          <a:lstStyle/>
          <a:p>
            <a:endParaRPr lang="en-US"/>
          </a:p>
        </p:txBody>
      </p:sp>
      <p:sp>
        <p:nvSpPr>
          <p:cNvPr id="18" name="Text 16"/>
          <p:cNvSpPr/>
          <p:nvPr/>
        </p:nvSpPr>
        <p:spPr>
          <a:xfrm>
            <a:off x="9345168" y="2084832"/>
            <a:ext cx="1792224" cy="164592"/>
          </a:xfrm>
          <a:prstGeom prst="rect">
            <a:avLst/>
          </a:prstGeom>
          <a:noFill/>
          <a:ln/>
        </p:spPr>
        <p:txBody>
          <a:bodyPr wrap="square" lIns="0" tIns="0" rIns="0" bIns="0" rtlCol="0" anchor="ctr"/>
          <a:lstStyle/>
          <a:p>
            <a:pPr marL="0" indent="0" algn="l">
              <a:buNone/>
            </a:pPr>
            <a:r>
              <a:rPr lang="en-US" sz="1250" b="1" dirty="0">
                <a:solidFill>
                  <a:srgbClr val="163A5F"/>
                </a:solidFill>
              </a:rPr>
              <a:t>Technical team</a:t>
            </a:r>
            <a:endParaRPr lang="en-US" sz="1250" dirty="0"/>
          </a:p>
        </p:txBody>
      </p:sp>
      <p:sp>
        <p:nvSpPr>
          <p:cNvPr id="19" name="Text 17"/>
          <p:cNvSpPr/>
          <p:nvPr/>
        </p:nvSpPr>
        <p:spPr>
          <a:xfrm>
            <a:off x="9345168" y="2286000"/>
            <a:ext cx="1792224" cy="493776"/>
          </a:xfrm>
          <a:prstGeom prst="rect">
            <a:avLst/>
          </a:prstGeom>
          <a:noFill/>
          <a:ln/>
        </p:spPr>
        <p:txBody>
          <a:bodyPr wrap="square" lIns="254" tIns="254" rIns="254" bIns="254" rtlCol="0" anchor="t">
            <a:normAutofit/>
          </a:bodyPr>
          <a:lstStyle/>
          <a:p>
            <a:pPr marL="0" indent="0">
              <a:buNone/>
            </a:pPr>
            <a:r>
              <a:rPr lang="en-US" sz="1300" dirty="0">
                <a:solidFill>
                  <a:srgbClr val="1F2937"/>
                </a:solidFill>
              </a:rPr>
              <a:t>Build, test, integrate, deploy</a:t>
            </a:r>
            <a:endParaRPr lang="en-US" sz="1300" dirty="0"/>
          </a:p>
        </p:txBody>
      </p:sp>
      <p:sp>
        <p:nvSpPr>
          <p:cNvPr id="20" name="Shape 18"/>
          <p:cNvSpPr/>
          <p:nvPr/>
        </p:nvSpPr>
        <p:spPr>
          <a:xfrm>
            <a:off x="6080760" y="1691640"/>
            <a:ext cx="0" cy="320040"/>
          </a:xfrm>
          <a:prstGeom prst="line">
            <a:avLst/>
          </a:prstGeom>
          <a:noFill/>
          <a:ln w="12700">
            <a:solidFill>
              <a:srgbClr val="6B7280"/>
            </a:solidFill>
            <a:prstDash val="solid"/>
            <a:tailEnd type="triangle"/>
          </a:ln>
        </p:spPr>
        <p:txBody>
          <a:bodyPr/>
          <a:lstStyle/>
          <a:p>
            <a:endParaRPr lang="en-US"/>
          </a:p>
        </p:txBody>
      </p:sp>
      <p:sp>
        <p:nvSpPr>
          <p:cNvPr id="21" name="Shape 19"/>
          <p:cNvSpPr/>
          <p:nvPr/>
        </p:nvSpPr>
        <p:spPr>
          <a:xfrm>
            <a:off x="6080760" y="1691640"/>
            <a:ext cx="0" cy="320040"/>
          </a:xfrm>
          <a:prstGeom prst="line">
            <a:avLst/>
          </a:prstGeom>
          <a:noFill/>
          <a:ln w="12700">
            <a:solidFill>
              <a:srgbClr val="6B7280"/>
            </a:solidFill>
            <a:prstDash val="solid"/>
            <a:tailEnd type="triangle"/>
          </a:ln>
        </p:spPr>
        <p:txBody>
          <a:bodyPr/>
          <a:lstStyle/>
          <a:p>
            <a:endParaRPr lang="en-US"/>
          </a:p>
        </p:txBody>
      </p:sp>
      <p:sp>
        <p:nvSpPr>
          <p:cNvPr id="22" name="Shape 20"/>
          <p:cNvSpPr/>
          <p:nvPr/>
        </p:nvSpPr>
        <p:spPr>
          <a:xfrm>
            <a:off x="6080760" y="1691640"/>
            <a:ext cx="1508760" cy="320040"/>
          </a:xfrm>
          <a:prstGeom prst="line">
            <a:avLst/>
          </a:prstGeom>
          <a:noFill/>
          <a:ln w="12700">
            <a:solidFill>
              <a:srgbClr val="6B7280"/>
            </a:solidFill>
            <a:prstDash val="solid"/>
            <a:tailEnd type="triangle"/>
          </a:ln>
        </p:spPr>
        <p:txBody>
          <a:bodyPr/>
          <a:lstStyle/>
          <a:p>
            <a:endParaRPr lang="en-US"/>
          </a:p>
        </p:txBody>
      </p:sp>
      <p:sp>
        <p:nvSpPr>
          <p:cNvPr id="23" name="Shape 21"/>
          <p:cNvSpPr/>
          <p:nvPr/>
        </p:nvSpPr>
        <p:spPr>
          <a:xfrm>
            <a:off x="6080760" y="1691640"/>
            <a:ext cx="4160520" cy="320040"/>
          </a:xfrm>
          <a:prstGeom prst="line">
            <a:avLst/>
          </a:prstGeom>
          <a:noFill/>
          <a:ln w="12700">
            <a:solidFill>
              <a:srgbClr val="6B7280"/>
            </a:solidFill>
            <a:prstDash val="solid"/>
            <a:tailEnd type="triangle"/>
          </a:ln>
        </p:spPr>
        <p:txBody>
          <a:bodyPr/>
          <a:lstStyle/>
          <a:p>
            <a:endParaRPr lang="en-US"/>
          </a:p>
        </p:txBody>
      </p:sp>
      <p:sp>
        <p:nvSpPr>
          <p:cNvPr id="24" name="Shape 22"/>
          <p:cNvSpPr/>
          <p:nvPr/>
        </p:nvSpPr>
        <p:spPr>
          <a:xfrm>
            <a:off x="914400" y="3749040"/>
            <a:ext cx="10332720" cy="1325880"/>
          </a:xfrm>
          <a:prstGeom prst="roundRect">
            <a:avLst>
              <a:gd name="adj" fmla="val 5517"/>
            </a:avLst>
          </a:prstGeom>
          <a:solidFill>
            <a:srgbClr val="F8FAFC"/>
          </a:solidFill>
          <a:ln w="12700">
            <a:solidFill>
              <a:srgbClr val="CBD5E1"/>
            </a:solidFill>
            <a:prstDash val="solid"/>
          </a:ln>
        </p:spPr>
        <p:txBody>
          <a:bodyPr/>
          <a:lstStyle/>
          <a:p>
            <a:endParaRPr lang="en-US"/>
          </a:p>
        </p:txBody>
      </p:sp>
      <p:sp>
        <p:nvSpPr>
          <p:cNvPr id="25" name="Text 23"/>
          <p:cNvSpPr/>
          <p:nvPr/>
        </p:nvSpPr>
        <p:spPr>
          <a:xfrm>
            <a:off x="1024128" y="3822192"/>
            <a:ext cx="10113264" cy="164592"/>
          </a:xfrm>
          <a:prstGeom prst="rect">
            <a:avLst/>
          </a:prstGeom>
          <a:noFill/>
          <a:ln/>
        </p:spPr>
        <p:txBody>
          <a:bodyPr wrap="square" lIns="0" tIns="0" rIns="0" bIns="0" rtlCol="0" anchor="ctr"/>
          <a:lstStyle/>
          <a:p>
            <a:pPr marL="0" indent="0" algn="l">
              <a:buNone/>
            </a:pPr>
            <a:r>
              <a:rPr lang="en-US" sz="2000" b="1" dirty="0">
                <a:solidFill>
                  <a:srgbClr val="163A5F"/>
                </a:solidFill>
              </a:rPr>
              <a:t>Control mechanisms</a:t>
            </a:r>
            <a:endParaRPr lang="en-US" sz="2000" dirty="0"/>
          </a:p>
        </p:txBody>
      </p:sp>
      <p:sp>
        <p:nvSpPr>
          <p:cNvPr id="26" name="Text 24"/>
          <p:cNvSpPr/>
          <p:nvPr/>
        </p:nvSpPr>
        <p:spPr>
          <a:xfrm>
            <a:off x="1024128" y="4023360"/>
            <a:ext cx="10113264" cy="996696"/>
          </a:xfrm>
          <a:prstGeom prst="rect">
            <a:avLst/>
          </a:prstGeom>
          <a:noFill/>
          <a:ln/>
        </p:spPr>
        <p:txBody>
          <a:bodyPr wrap="square" lIns="254" tIns="254" rIns="254" bIns="254" rtlCol="0" anchor="t">
            <a:normAutofit/>
          </a:bodyPr>
          <a:lstStyle/>
          <a:p>
            <a:pPr marL="0" indent="0">
              <a:buNone/>
            </a:pPr>
            <a:r>
              <a:rPr lang="en-US" dirty="0">
                <a:solidFill>
                  <a:srgbClr val="1F2937"/>
                </a:solidFill>
              </a:rPr>
              <a:t>Weekly status reviews, formal change control, data quality checkpoints, test sign-offs, and cutover rehearsals. Business owners should approve process decisions; the steering committee should approve scope changes.</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163A5F"/>
          </a:solidFill>
          <a:ln w="12700">
            <a:solidFill>
              <a:srgbClr val="163A5F">
                <a:alpha val="0"/>
              </a:srgbClr>
            </a:solidFill>
            <a:prstDash val="solid"/>
          </a:ln>
        </p:spPr>
        <p:txBody>
          <a:bodyPr/>
          <a:lstStyle/>
          <a:p>
            <a:endParaRPr lang="en-US"/>
          </a:p>
        </p:txBody>
      </p:sp>
      <p:sp>
        <p:nvSpPr>
          <p:cNvPr id="3" name="Text 1"/>
          <p:cNvSpPr/>
          <p:nvPr/>
        </p:nvSpPr>
        <p:spPr>
          <a:xfrm>
            <a:off x="365760" y="109728"/>
            <a:ext cx="9875520" cy="2286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Top risks and next steps</a:t>
            </a:r>
            <a:endParaRPr lang="en-US" sz="2200" dirty="0"/>
          </a:p>
        </p:txBody>
      </p:sp>
      <p:sp>
        <p:nvSpPr>
          <p:cNvPr id="4" name="Text 2"/>
          <p:cNvSpPr/>
          <p:nvPr/>
        </p:nvSpPr>
        <p:spPr>
          <a:xfrm>
            <a:off x="9738360" y="118872"/>
            <a:ext cx="2011680" cy="182880"/>
          </a:xfrm>
          <a:prstGeom prst="rect">
            <a:avLst/>
          </a:prstGeom>
          <a:noFill/>
          <a:ln/>
        </p:spPr>
        <p:txBody>
          <a:bodyPr wrap="square" lIns="0" tIns="0" rIns="0" bIns="0" rtlCol="0" anchor="ctr"/>
          <a:lstStyle/>
          <a:p>
            <a:pPr marL="0" indent="0" algn="r">
              <a:buNone/>
            </a:pPr>
            <a:r>
              <a:rPr lang="en-US" sz="1000" dirty="0">
                <a:solidFill>
                  <a:srgbClr val="DCE6F1"/>
                </a:solidFill>
              </a:rPr>
              <a:t>What leadership should watch most closely</a:t>
            </a:r>
            <a:endParaRPr lang="en-US" sz="1000" dirty="0"/>
          </a:p>
        </p:txBody>
      </p:sp>
      <p:sp>
        <p:nvSpPr>
          <p:cNvPr id="5" name="Shape 3"/>
          <p:cNvSpPr/>
          <p:nvPr/>
        </p:nvSpPr>
        <p:spPr>
          <a:xfrm>
            <a:off x="731520" y="1051560"/>
            <a:ext cx="5303520" cy="4206240"/>
          </a:xfrm>
          <a:prstGeom prst="rect">
            <a:avLst/>
          </a:prstGeom>
          <a:solidFill>
            <a:srgbClr val="FFFFFF"/>
          </a:solidFill>
          <a:ln w="12700">
            <a:solidFill>
              <a:srgbClr val="CBD5E1"/>
            </a:solidFill>
            <a:prstDash val="solid"/>
          </a:ln>
        </p:spPr>
        <p:txBody>
          <a:bodyPr/>
          <a:lstStyle/>
          <a:p>
            <a:endParaRPr lang="en-US"/>
          </a:p>
        </p:txBody>
      </p:sp>
      <p:sp>
        <p:nvSpPr>
          <p:cNvPr id="6" name="Text 4"/>
          <p:cNvSpPr/>
          <p:nvPr/>
        </p:nvSpPr>
        <p:spPr>
          <a:xfrm>
            <a:off x="914400" y="1143000"/>
            <a:ext cx="1371600" cy="182880"/>
          </a:xfrm>
          <a:prstGeom prst="rect">
            <a:avLst/>
          </a:prstGeom>
          <a:noFill/>
          <a:ln/>
        </p:spPr>
        <p:txBody>
          <a:bodyPr wrap="square" lIns="0" tIns="0" rIns="0" bIns="0" rtlCol="0" anchor="ctr"/>
          <a:lstStyle/>
          <a:p>
            <a:pPr marL="0" indent="0">
              <a:buNone/>
            </a:pPr>
            <a:r>
              <a:rPr lang="en-US" sz="1400" b="1" dirty="0">
                <a:solidFill>
                  <a:srgbClr val="163A5F"/>
                </a:solidFill>
              </a:rPr>
              <a:t>Risk matrix</a:t>
            </a:r>
            <a:endParaRPr lang="en-US" sz="1400" dirty="0"/>
          </a:p>
        </p:txBody>
      </p:sp>
      <p:sp>
        <p:nvSpPr>
          <p:cNvPr id="7" name="Shape 5"/>
          <p:cNvSpPr/>
          <p:nvPr/>
        </p:nvSpPr>
        <p:spPr>
          <a:xfrm>
            <a:off x="1051560" y="1554480"/>
            <a:ext cx="0" cy="3291840"/>
          </a:xfrm>
          <a:prstGeom prst="line">
            <a:avLst/>
          </a:prstGeom>
          <a:noFill/>
          <a:ln w="12700">
            <a:solidFill>
              <a:srgbClr val="D1D5DB"/>
            </a:solidFill>
            <a:prstDash val="solid"/>
          </a:ln>
        </p:spPr>
        <p:txBody>
          <a:bodyPr/>
          <a:lstStyle/>
          <a:p>
            <a:endParaRPr lang="en-US"/>
          </a:p>
        </p:txBody>
      </p:sp>
      <p:sp>
        <p:nvSpPr>
          <p:cNvPr id="8" name="Shape 6"/>
          <p:cNvSpPr/>
          <p:nvPr/>
        </p:nvSpPr>
        <p:spPr>
          <a:xfrm>
            <a:off x="1051560" y="1554480"/>
            <a:ext cx="4572000" cy="0"/>
          </a:xfrm>
          <a:prstGeom prst="line">
            <a:avLst/>
          </a:prstGeom>
          <a:noFill/>
          <a:ln w="12700">
            <a:solidFill>
              <a:srgbClr val="D1D5DB"/>
            </a:solidFill>
            <a:prstDash val="solid"/>
          </a:ln>
        </p:spPr>
        <p:txBody>
          <a:bodyPr/>
          <a:lstStyle/>
          <a:p>
            <a:endParaRPr lang="en-US"/>
          </a:p>
        </p:txBody>
      </p:sp>
      <p:sp>
        <p:nvSpPr>
          <p:cNvPr id="9" name="Shape 7"/>
          <p:cNvSpPr/>
          <p:nvPr/>
        </p:nvSpPr>
        <p:spPr>
          <a:xfrm>
            <a:off x="2575560" y="1554480"/>
            <a:ext cx="0" cy="3291840"/>
          </a:xfrm>
          <a:prstGeom prst="line">
            <a:avLst/>
          </a:prstGeom>
          <a:noFill/>
          <a:ln w="12700">
            <a:solidFill>
              <a:srgbClr val="D1D5DB"/>
            </a:solidFill>
            <a:prstDash val="solid"/>
          </a:ln>
        </p:spPr>
        <p:txBody>
          <a:bodyPr/>
          <a:lstStyle/>
          <a:p>
            <a:endParaRPr lang="en-US"/>
          </a:p>
        </p:txBody>
      </p:sp>
      <p:sp>
        <p:nvSpPr>
          <p:cNvPr id="10" name="Shape 8"/>
          <p:cNvSpPr/>
          <p:nvPr/>
        </p:nvSpPr>
        <p:spPr>
          <a:xfrm>
            <a:off x="1051560" y="2651760"/>
            <a:ext cx="4572000" cy="0"/>
          </a:xfrm>
          <a:prstGeom prst="line">
            <a:avLst/>
          </a:prstGeom>
          <a:noFill/>
          <a:ln w="12700">
            <a:solidFill>
              <a:srgbClr val="D1D5DB"/>
            </a:solidFill>
            <a:prstDash val="solid"/>
          </a:ln>
        </p:spPr>
        <p:txBody>
          <a:bodyPr/>
          <a:lstStyle/>
          <a:p>
            <a:endParaRPr lang="en-US"/>
          </a:p>
        </p:txBody>
      </p:sp>
      <p:sp>
        <p:nvSpPr>
          <p:cNvPr id="11" name="Shape 9"/>
          <p:cNvSpPr/>
          <p:nvPr/>
        </p:nvSpPr>
        <p:spPr>
          <a:xfrm>
            <a:off x="4099560" y="1554480"/>
            <a:ext cx="0" cy="3291840"/>
          </a:xfrm>
          <a:prstGeom prst="line">
            <a:avLst/>
          </a:prstGeom>
          <a:noFill/>
          <a:ln w="12700">
            <a:solidFill>
              <a:srgbClr val="D1D5DB"/>
            </a:solidFill>
            <a:prstDash val="solid"/>
          </a:ln>
        </p:spPr>
        <p:txBody>
          <a:bodyPr/>
          <a:lstStyle/>
          <a:p>
            <a:endParaRPr lang="en-US"/>
          </a:p>
        </p:txBody>
      </p:sp>
      <p:sp>
        <p:nvSpPr>
          <p:cNvPr id="12" name="Shape 10"/>
          <p:cNvSpPr/>
          <p:nvPr/>
        </p:nvSpPr>
        <p:spPr>
          <a:xfrm>
            <a:off x="1051560" y="3749040"/>
            <a:ext cx="4572000" cy="0"/>
          </a:xfrm>
          <a:prstGeom prst="line">
            <a:avLst/>
          </a:prstGeom>
          <a:noFill/>
          <a:ln w="12700">
            <a:solidFill>
              <a:srgbClr val="D1D5DB"/>
            </a:solidFill>
            <a:prstDash val="solid"/>
          </a:ln>
        </p:spPr>
        <p:txBody>
          <a:bodyPr/>
          <a:lstStyle/>
          <a:p>
            <a:endParaRPr lang="en-US"/>
          </a:p>
        </p:txBody>
      </p:sp>
      <p:sp>
        <p:nvSpPr>
          <p:cNvPr id="13" name="Text 11"/>
          <p:cNvSpPr/>
          <p:nvPr/>
        </p:nvSpPr>
        <p:spPr>
          <a:xfrm rot="16200000">
            <a:off x="841248" y="1828800"/>
            <a:ext cx="182880" cy="182880"/>
          </a:xfrm>
          <a:prstGeom prst="rect">
            <a:avLst/>
          </a:prstGeom>
          <a:noFill/>
          <a:ln/>
        </p:spPr>
        <p:txBody>
          <a:bodyPr wrap="square" lIns="0" tIns="0" rIns="0" bIns="0" rtlCol="0" anchor="ctr"/>
          <a:lstStyle/>
          <a:p>
            <a:pPr marL="0" indent="0">
              <a:buNone/>
            </a:pPr>
            <a:r>
              <a:rPr lang="en-US" sz="900" dirty="0">
                <a:solidFill>
                  <a:srgbClr val="6B7280"/>
                </a:solidFill>
              </a:rPr>
              <a:t>High</a:t>
            </a:r>
            <a:endParaRPr lang="en-US" sz="900" dirty="0"/>
          </a:p>
        </p:txBody>
      </p:sp>
      <p:sp>
        <p:nvSpPr>
          <p:cNvPr id="14" name="Text 12"/>
          <p:cNvSpPr/>
          <p:nvPr/>
        </p:nvSpPr>
        <p:spPr>
          <a:xfrm rot="16200000">
            <a:off x="822960" y="3200400"/>
            <a:ext cx="457200" cy="182880"/>
          </a:xfrm>
          <a:prstGeom prst="rect">
            <a:avLst/>
          </a:prstGeom>
          <a:noFill/>
          <a:ln/>
        </p:spPr>
        <p:txBody>
          <a:bodyPr wrap="square" lIns="0" tIns="0" rIns="0" bIns="0" rtlCol="0" anchor="ctr"/>
          <a:lstStyle/>
          <a:p>
            <a:pPr marL="0" indent="0">
              <a:buNone/>
            </a:pPr>
            <a:r>
              <a:rPr lang="en-US" sz="900" dirty="0">
                <a:solidFill>
                  <a:srgbClr val="6B7280"/>
                </a:solidFill>
              </a:rPr>
              <a:t>Impact</a:t>
            </a:r>
            <a:endParaRPr lang="en-US" sz="900" dirty="0"/>
          </a:p>
        </p:txBody>
      </p:sp>
      <p:sp>
        <p:nvSpPr>
          <p:cNvPr id="15" name="Text 13"/>
          <p:cNvSpPr/>
          <p:nvPr/>
        </p:nvSpPr>
        <p:spPr>
          <a:xfrm>
            <a:off x="2743200" y="4983480"/>
            <a:ext cx="365760" cy="182880"/>
          </a:xfrm>
          <a:prstGeom prst="rect">
            <a:avLst/>
          </a:prstGeom>
          <a:noFill/>
          <a:ln/>
        </p:spPr>
        <p:txBody>
          <a:bodyPr wrap="square" lIns="0" tIns="0" rIns="0" bIns="0" rtlCol="0" anchor="ctr"/>
          <a:lstStyle/>
          <a:p>
            <a:pPr marL="0" indent="0">
              <a:buNone/>
            </a:pPr>
            <a:r>
              <a:rPr lang="en-US" sz="900" dirty="0">
                <a:solidFill>
                  <a:srgbClr val="6B7280"/>
                </a:solidFill>
              </a:rPr>
              <a:t>High</a:t>
            </a:r>
            <a:endParaRPr lang="en-US" sz="900" dirty="0"/>
          </a:p>
        </p:txBody>
      </p:sp>
      <p:sp>
        <p:nvSpPr>
          <p:cNvPr id="16" name="Text 14"/>
          <p:cNvSpPr/>
          <p:nvPr/>
        </p:nvSpPr>
        <p:spPr>
          <a:xfrm>
            <a:off x="2331720" y="5166360"/>
            <a:ext cx="1097280" cy="182880"/>
          </a:xfrm>
          <a:prstGeom prst="rect">
            <a:avLst/>
          </a:prstGeom>
          <a:noFill/>
          <a:ln/>
        </p:spPr>
        <p:txBody>
          <a:bodyPr wrap="square" lIns="0" tIns="0" rIns="0" bIns="0" rtlCol="0" anchor="ctr"/>
          <a:lstStyle/>
          <a:p>
            <a:pPr marL="0" indent="0">
              <a:buNone/>
            </a:pPr>
            <a:r>
              <a:rPr lang="en-US" sz="900" dirty="0">
                <a:solidFill>
                  <a:srgbClr val="6B7280"/>
                </a:solidFill>
              </a:rPr>
              <a:t>Probability</a:t>
            </a:r>
            <a:endParaRPr lang="en-US" sz="900" dirty="0"/>
          </a:p>
        </p:txBody>
      </p:sp>
      <p:sp>
        <p:nvSpPr>
          <p:cNvPr id="17" name="Shape 15"/>
          <p:cNvSpPr/>
          <p:nvPr/>
        </p:nvSpPr>
        <p:spPr>
          <a:xfrm>
            <a:off x="1234440" y="1828800"/>
            <a:ext cx="1417320" cy="566928"/>
          </a:xfrm>
          <a:prstGeom prst="roundRect">
            <a:avLst>
              <a:gd name="adj" fmla="val 12903"/>
            </a:avLst>
          </a:prstGeom>
          <a:solidFill>
            <a:srgbClr val="FEE2E2"/>
          </a:solidFill>
          <a:ln w="12700">
            <a:solidFill>
              <a:srgbClr val="F5A3A3"/>
            </a:solidFill>
            <a:prstDash val="solid"/>
          </a:ln>
        </p:spPr>
        <p:txBody>
          <a:bodyPr/>
          <a:lstStyle/>
          <a:p>
            <a:endParaRPr lang="en-US"/>
          </a:p>
        </p:txBody>
      </p:sp>
      <p:sp>
        <p:nvSpPr>
          <p:cNvPr id="18" name="Text 16"/>
          <p:cNvSpPr/>
          <p:nvPr/>
        </p:nvSpPr>
        <p:spPr>
          <a:xfrm>
            <a:off x="1344168" y="1901952"/>
            <a:ext cx="1197864" cy="164592"/>
          </a:xfrm>
          <a:prstGeom prst="rect">
            <a:avLst/>
          </a:prstGeom>
          <a:noFill/>
          <a:ln/>
        </p:spPr>
        <p:txBody>
          <a:bodyPr wrap="square" lIns="0" tIns="0" rIns="0" bIns="0" rtlCol="0" anchor="ctr"/>
          <a:lstStyle/>
          <a:p>
            <a:pPr marL="0" indent="0" algn="l">
              <a:buNone/>
            </a:pPr>
            <a:r>
              <a:rPr lang="en-US" sz="1400" b="1" dirty="0">
                <a:solidFill>
                  <a:srgbClr val="C0392B"/>
                </a:solidFill>
              </a:rPr>
              <a:t>Data defects</a:t>
            </a:r>
            <a:endParaRPr lang="en-US" sz="1400" dirty="0"/>
          </a:p>
        </p:txBody>
      </p:sp>
      <p:sp>
        <p:nvSpPr>
          <p:cNvPr id="19" name="Shape 17"/>
          <p:cNvSpPr/>
          <p:nvPr/>
        </p:nvSpPr>
        <p:spPr>
          <a:xfrm>
            <a:off x="2697480" y="2514600"/>
            <a:ext cx="1417320" cy="566928"/>
          </a:xfrm>
          <a:prstGeom prst="roundRect">
            <a:avLst>
              <a:gd name="adj" fmla="val 12903"/>
            </a:avLst>
          </a:prstGeom>
          <a:solidFill>
            <a:srgbClr val="FFF7ED"/>
          </a:solidFill>
          <a:ln w="12700">
            <a:solidFill>
              <a:srgbClr val="F2C17D"/>
            </a:solidFill>
            <a:prstDash val="solid"/>
          </a:ln>
        </p:spPr>
        <p:txBody>
          <a:bodyPr/>
          <a:lstStyle/>
          <a:p>
            <a:endParaRPr lang="en-US"/>
          </a:p>
        </p:txBody>
      </p:sp>
      <p:sp>
        <p:nvSpPr>
          <p:cNvPr id="20" name="Text 18"/>
          <p:cNvSpPr/>
          <p:nvPr/>
        </p:nvSpPr>
        <p:spPr>
          <a:xfrm>
            <a:off x="2807208" y="2587752"/>
            <a:ext cx="1197864" cy="164592"/>
          </a:xfrm>
          <a:prstGeom prst="rect">
            <a:avLst/>
          </a:prstGeom>
          <a:noFill/>
          <a:ln/>
        </p:spPr>
        <p:txBody>
          <a:bodyPr wrap="square" lIns="0" tIns="0" rIns="0" bIns="0" rtlCol="0" anchor="ctr"/>
          <a:lstStyle/>
          <a:p>
            <a:pPr marL="0" indent="0" algn="l">
              <a:buNone/>
            </a:pPr>
            <a:r>
              <a:rPr lang="en-US" sz="1400" b="1" dirty="0">
                <a:solidFill>
                  <a:srgbClr val="D97706"/>
                </a:solidFill>
              </a:rPr>
              <a:t>Scope creep</a:t>
            </a:r>
            <a:endParaRPr lang="en-US" sz="1400" dirty="0"/>
          </a:p>
        </p:txBody>
      </p:sp>
      <p:sp>
        <p:nvSpPr>
          <p:cNvPr id="21" name="Shape 19"/>
          <p:cNvSpPr/>
          <p:nvPr/>
        </p:nvSpPr>
        <p:spPr>
          <a:xfrm>
            <a:off x="3749040" y="3474720"/>
            <a:ext cx="1463040" cy="566928"/>
          </a:xfrm>
          <a:prstGeom prst="roundRect">
            <a:avLst>
              <a:gd name="adj" fmla="val 12903"/>
            </a:avLst>
          </a:prstGeom>
          <a:solidFill>
            <a:srgbClr val="FFF7ED"/>
          </a:solidFill>
          <a:ln w="12700">
            <a:solidFill>
              <a:srgbClr val="F2C17D"/>
            </a:solidFill>
            <a:prstDash val="solid"/>
          </a:ln>
        </p:spPr>
        <p:txBody>
          <a:bodyPr/>
          <a:lstStyle/>
          <a:p>
            <a:endParaRPr lang="en-US"/>
          </a:p>
        </p:txBody>
      </p:sp>
      <p:sp>
        <p:nvSpPr>
          <p:cNvPr id="22" name="Text 20"/>
          <p:cNvSpPr/>
          <p:nvPr/>
        </p:nvSpPr>
        <p:spPr>
          <a:xfrm>
            <a:off x="3858768" y="3547872"/>
            <a:ext cx="1243584" cy="164592"/>
          </a:xfrm>
          <a:prstGeom prst="rect">
            <a:avLst/>
          </a:prstGeom>
          <a:noFill/>
          <a:ln/>
        </p:spPr>
        <p:txBody>
          <a:bodyPr wrap="square" lIns="0" tIns="0" rIns="0" bIns="0" rtlCol="0" anchor="ctr"/>
          <a:lstStyle/>
          <a:p>
            <a:pPr marL="0" indent="0" algn="l">
              <a:buNone/>
            </a:pPr>
            <a:r>
              <a:rPr lang="en-US" sz="1400" b="1" dirty="0">
                <a:solidFill>
                  <a:srgbClr val="D97706"/>
                </a:solidFill>
              </a:rPr>
              <a:t>Cutover risk</a:t>
            </a:r>
            <a:endParaRPr lang="en-US" sz="1400" dirty="0"/>
          </a:p>
        </p:txBody>
      </p:sp>
      <p:sp>
        <p:nvSpPr>
          <p:cNvPr id="23" name="Shape 21"/>
          <p:cNvSpPr/>
          <p:nvPr/>
        </p:nvSpPr>
        <p:spPr>
          <a:xfrm>
            <a:off x="1828800" y="3977640"/>
            <a:ext cx="1554480" cy="566928"/>
          </a:xfrm>
          <a:prstGeom prst="roundRect">
            <a:avLst>
              <a:gd name="adj" fmla="val 12903"/>
            </a:avLst>
          </a:prstGeom>
          <a:solidFill>
            <a:srgbClr val="FEE2E2"/>
          </a:solidFill>
          <a:ln w="12700">
            <a:solidFill>
              <a:srgbClr val="F5A3A3"/>
            </a:solidFill>
            <a:prstDash val="solid"/>
          </a:ln>
        </p:spPr>
        <p:txBody>
          <a:bodyPr/>
          <a:lstStyle/>
          <a:p>
            <a:endParaRPr lang="en-US"/>
          </a:p>
        </p:txBody>
      </p:sp>
      <p:sp>
        <p:nvSpPr>
          <p:cNvPr id="24" name="Text 22"/>
          <p:cNvSpPr/>
          <p:nvPr/>
        </p:nvSpPr>
        <p:spPr>
          <a:xfrm>
            <a:off x="1938528" y="4050792"/>
            <a:ext cx="1335024" cy="164592"/>
          </a:xfrm>
          <a:prstGeom prst="rect">
            <a:avLst/>
          </a:prstGeom>
          <a:noFill/>
          <a:ln/>
        </p:spPr>
        <p:txBody>
          <a:bodyPr wrap="square" lIns="0" tIns="0" rIns="0" bIns="0" rtlCol="0" anchor="ctr"/>
          <a:lstStyle/>
          <a:p>
            <a:pPr marL="0" indent="0" algn="l">
              <a:buNone/>
            </a:pPr>
            <a:r>
              <a:rPr lang="en-US" sz="1400" b="1" dirty="0">
                <a:solidFill>
                  <a:srgbClr val="C0392B"/>
                </a:solidFill>
              </a:rPr>
              <a:t>Adoption gap</a:t>
            </a:r>
            <a:endParaRPr lang="en-US" sz="1400" dirty="0"/>
          </a:p>
        </p:txBody>
      </p:sp>
      <p:sp>
        <p:nvSpPr>
          <p:cNvPr id="25" name="Shape 23"/>
          <p:cNvSpPr/>
          <p:nvPr/>
        </p:nvSpPr>
        <p:spPr>
          <a:xfrm>
            <a:off x="6537960" y="1097280"/>
            <a:ext cx="4892040" cy="4114800"/>
          </a:xfrm>
          <a:prstGeom prst="roundRect">
            <a:avLst>
              <a:gd name="adj" fmla="val 1778"/>
            </a:avLst>
          </a:prstGeom>
          <a:solidFill>
            <a:srgbClr val="F8FAFC"/>
          </a:solidFill>
          <a:ln w="12700">
            <a:solidFill>
              <a:srgbClr val="CBD5E1"/>
            </a:solidFill>
            <a:prstDash val="solid"/>
          </a:ln>
        </p:spPr>
        <p:txBody>
          <a:bodyPr/>
          <a:lstStyle/>
          <a:p>
            <a:endParaRPr lang="en-US"/>
          </a:p>
        </p:txBody>
      </p:sp>
      <p:sp>
        <p:nvSpPr>
          <p:cNvPr id="26" name="Text 24"/>
          <p:cNvSpPr/>
          <p:nvPr/>
        </p:nvSpPr>
        <p:spPr>
          <a:xfrm>
            <a:off x="6647688" y="1170432"/>
            <a:ext cx="4672584" cy="164592"/>
          </a:xfrm>
          <a:prstGeom prst="rect">
            <a:avLst/>
          </a:prstGeom>
          <a:noFill/>
          <a:ln/>
        </p:spPr>
        <p:txBody>
          <a:bodyPr wrap="square" lIns="0" tIns="0" rIns="0" bIns="0" rtlCol="0" anchor="ctr"/>
          <a:lstStyle/>
          <a:p>
            <a:pPr marL="0" indent="0" algn="l">
              <a:buNone/>
            </a:pPr>
            <a:r>
              <a:rPr lang="en-US" sz="2000" b="1" dirty="0">
                <a:solidFill>
                  <a:srgbClr val="163A5F"/>
                </a:solidFill>
              </a:rPr>
              <a:t>Immediate next steps</a:t>
            </a:r>
            <a:endParaRPr lang="en-US" sz="2000" dirty="0"/>
          </a:p>
        </p:txBody>
      </p:sp>
      <p:sp>
        <p:nvSpPr>
          <p:cNvPr id="27" name="Text 25"/>
          <p:cNvSpPr/>
          <p:nvPr/>
        </p:nvSpPr>
        <p:spPr>
          <a:xfrm>
            <a:off x="6647688" y="1371600"/>
            <a:ext cx="4672584" cy="3785616"/>
          </a:xfrm>
          <a:prstGeom prst="rect">
            <a:avLst/>
          </a:prstGeom>
          <a:noFill/>
          <a:ln/>
        </p:spPr>
        <p:txBody>
          <a:bodyPr wrap="square" lIns="254" tIns="254" rIns="254" bIns="254" rtlCol="0" anchor="t">
            <a:normAutofit/>
          </a:bodyPr>
          <a:lstStyle/>
          <a:p>
            <a:pPr marL="0" indent="0">
              <a:buNone/>
            </a:pPr>
            <a:r>
              <a:rPr lang="en-US" dirty="0">
                <a:solidFill>
                  <a:srgbClr val="1F2937"/>
                </a:solidFill>
              </a:rPr>
              <a:t>1. Confirm the pilot site and executive sponsor</a:t>
            </a:r>
            <a:endParaRPr lang="en-US" dirty="0"/>
          </a:p>
          <a:p>
            <a:pPr marL="0" indent="0">
              <a:buNone/>
            </a:pPr>
            <a:r>
              <a:rPr lang="en-US" dirty="0">
                <a:solidFill>
                  <a:srgbClr val="1F2937"/>
                </a:solidFill>
              </a:rPr>
              <a:t>2. Appoint business process owners and data owners</a:t>
            </a:r>
            <a:endParaRPr lang="en-US" dirty="0"/>
          </a:p>
          <a:p>
            <a:pPr marL="0" indent="0">
              <a:buNone/>
            </a:pPr>
            <a:r>
              <a:rPr lang="en-US" dirty="0">
                <a:solidFill>
                  <a:srgbClr val="1F2937"/>
                </a:solidFill>
              </a:rPr>
              <a:t>3. Freeze Day-1 scope and agree the change process</a:t>
            </a:r>
            <a:endParaRPr lang="en-US" dirty="0"/>
          </a:p>
          <a:p>
            <a:pPr marL="0" indent="0">
              <a:buNone/>
            </a:pPr>
            <a:r>
              <a:rPr lang="en-US" dirty="0">
                <a:solidFill>
                  <a:srgbClr val="1F2937"/>
                </a:solidFill>
              </a:rPr>
              <a:t>4. Start data cleansing and interface mapping</a:t>
            </a:r>
            <a:endParaRPr lang="en-US" dirty="0"/>
          </a:p>
          <a:p>
            <a:pPr marL="0" indent="0">
              <a:buNone/>
            </a:pPr>
            <a:r>
              <a:rPr lang="en-US" dirty="0">
                <a:solidFill>
                  <a:srgbClr val="1F2937"/>
                </a:solidFill>
              </a:rPr>
              <a:t>5. Build the detailed project plan and test strategy</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613</TotalTime>
  <Words>2000</Words>
  <Application>Microsoft Office PowerPoint</Application>
  <PresentationFormat>Widescreen</PresentationFormat>
  <Paragraphs>209</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Alpha Manufacturing Group ERP Transformation</dc:title>
  <dc:subject>AMG ERP Transformation</dc:subject>
  <dc:creator>OpenAI</dc:creator>
  <cp:lastModifiedBy>Leslie Elikem</cp:lastModifiedBy>
  <cp:revision>2</cp:revision>
  <dcterms:created xsi:type="dcterms:W3CDTF">2026-07-25T14:37:47Z</dcterms:created>
  <dcterms:modified xsi:type="dcterms:W3CDTF">2026-07-26T01:27:27Z</dcterms:modified>
</cp:coreProperties>
</file>